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7943360d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47943360d_0_2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47943360d_0_4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47943360d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7943360d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47943360d_0_6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47943360d_0_9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47943360d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47943360d_0_1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e47943360d_0_17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47943360d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47943360d_0_19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47943360d_0_2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e47943360d_0_2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e47943360d_0_27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e47943360d_0_2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47943360d_0_2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e47943360d_0_25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47943360d_28_0)">
  <p:cSld name="Generated (g3e47943360d_28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15.png"/><Relationship Id="rId13" Type="http://schemas.openxmlformats.org/officeDocument/2006/relationships/image" Target="../media/image11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Relationship Id="rId4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19562"/>
            <a:ext cx="5057775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571500" y="1871662"/>
            <a:ext cx="646080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Merca</a:t>
            </a:r>
            <a:r>
              <a:rPr b="1" i="0" lang="en-US" sz="6000" u="none" cap="none" strike="noStrike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rPr>
              <a:t>Intelligence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571500" y="2824162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Análisis, predicción y detección de anomalías de precios sobre el catálogo de Mercadona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571500" y="4414837"/>
            <a:ext cx="5057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Daniel Porras Morales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571500" y="4700587"/>
            <a:ext cx="5057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IES Abastos · Especialización IA &amp; Big Data ·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5"/>
          <p:cNvGrpSpPr/>
          <p:nvPr/>
        </p:nvGrpSpPr>
        <p:grpSpPr>
          <a:xfrm>
            <a:off x="571500" y="1524000"/>
            <a:ext cx="3429000" cy="4191000"/>
            <a:chOff x="571500" y="1524000"/>
            <a:chExt cx="3429000" cy="4191000"/>
          </a:xfrm>
        </p:grpSpPr>
        <p:sp>
          <p:nvSpPr>
            <p:cNvPr id="97" name="Google Shape;97;p15"/>
            <p:cNvSpPr/>
            <p:nvPr/>
          </p:nvSpPr>
          <p:spPr>
            <a:xfrm>
              <a:off x="571500" y="152400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571500" y="1524000"/>
              <a:ext cx="3429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3200">
                <a:solidFill>
                  <a:srgbClr val="00C85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Volumen Ingente</a:t>
              </a:r>
              <a:endParaRPr b="1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4300</a:t>
              </a:r>
              <a:r>
                <a:rPr b="0" lang="en-US" sz="14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+ productos diarios analizados. La detección manual de cambios es técnicamente inviable.</a:t>
              </a:r>
              <a:endParaRPr b="0" sz="14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" name="Google Shape;99;p15"/>
          <p:cNvGrpSpPr/>
          <p:nvPr/>
        </p:nvGrpSpPr>
        <p:grpSpPr>
          <a:xfrm>
            <a:off x="4381500" y="1524000"/>
            <a:ext cx="3429000" cy="4191000"/>
            <a:chOff x="4381500" y="1524000"/>
            <a:chExt cx="3429000" cy="4191000"/>
          </a:xfrm>
        </p:grpSpPr>
        <p:sp>
          <p:nvSpPr>
            <p:cNvPr id="100" name="Google Shape;100;p15"/>
            <p:cNvSpPr/>
            <p:nvPr/>
          </p:nvSpPr>
          <p:spPr>
            <a:xfrm>
              <a:off x="4381500" y="152400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4381500" y="1524000"/>
              <a:ext cx="3429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compare_arrows</a:t>
              </a:r>
              <a:endParaRPr sz="3200">
                <a:solidFill>
                  <a:srgbClr val="00C85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Brecha de Marca</a:t>
              </a:r>
              <a:endParaRPr b="1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¿Cuánto sobreprecio pagamos por la marca comercial frente a la marca blanca? Identificación del ahorro potencial.</a:t>
              </a:r>
              <a:endParaRPr b="0" sz="14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" name="Google Shape;102;p15"/>
          <p:cNvGrpSpPr/>
          <p:nvPr/>
        </p:nvGrpSpPr>
        <p:grpSpPr>
          <a:xfrm>
            <a:off x="8191500" y="1524000"/>
            <a:ext cx="3429000" cy="4191000"/>
            <a:chOff x="8191500" y="1524000"/>
            <a:chExt cx="3429000" cy="4191000"/>
          </a:xfrm>
        </p:grpSpPr>
        <p:sp>
          <p:nvSpPr>
            <p:cNvPr id="103" name="Google Shape;103;p15"/>
            <p:cNvSpPr/>
            <p:nvPr/>
          </p:nvSpPr>
          <p:spPr>
            <a:xfrm>
              <a:off x="8191500" y="152400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8191500" y="1524000"/>
              <a:ext cx="3429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3200">
                <a:solidFill>
                  <a:srgbClr val="00C85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Incertidumbre</a:t>
              </a:r>
              <a:endParaRPr b="1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Predicción de tendencias inflacionarias: ¿Cuándo y cuánto subirá el precio real de la cesta de la compra?</a:t>
              </a:r>
              <a:endParaRPr b="0" sz="14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5" name="Google Shape;105;p15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¿Qué problema resuelve?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9439275" y="6286500"/>
            <a:ext cx="218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b="0"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138737"/>
            <a:ext cx="11049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66912"/>
            <a:ext cx="2055018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17018" y="1966912"/>
            <a:ext cx="2066925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74443" y="1966912"/>
            <a:ext cx="2055018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19962" y="1966912"/>
            <a:ext cx="2055018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5481" y="1966912"/>
            <a:ext cx="2055018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771525" y="5338762"/>
            <a:ext cx="1064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rPr>
              <a:t>Stack completo desplegado con Docker Compose · Un solo comando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66775" y="2862262"/>
            <a:ext cx="15376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rPr>
              <a:t>GitHub Actions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66775" y="3795712"/>
            <a:ext cx="1464468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Scraper diario y orquestación con watchdog.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3112293" y="2862262"/>
            <a:ext cx="155019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rPr>
              <a:t>ETL Incremental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112293" y="3795712"/>
            <a:ext cx="147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PyArrow para procesamiento eficiente.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369718" y="2862262"/>
            <a:ext cx="1537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rPr>
              <a:t>Data Lake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369718" y="3471862"/>
            <a:ext cx="14644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Parquet particionado e indexado en 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615237" y="2862262"/>
            <a:ext cx="1537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rPr>
              <a:t>ML &amp; DL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615237" y="3471862"/>
            <a:ext cx="1464468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TensorFlow, XGBoost y NLP Transformers.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860756" y="2862262"/>
            <a:ext cx="1537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rPr>
              <a:t>API &amp; Front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860756" y="3471862"/>
            <a:ext cx="1464468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Flask, Vue 3 y despliegue Docker.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2290762"/>
            <a:ext cx="3714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12293" y="22907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69718" y="22907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15237" y="22907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60756" y="22907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Arquitectura del sistema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9439275" y="6286500"/>
            <a:ext cx="218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b="0"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9439259" y="6289736"/>
            <a:ext cx="218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b="0"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dataset: 176 días de inteligencia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7"/>
          <p:cNvGrpSpPr/>
          <p:nvPr/>
        </p:nvGrpSpPr>
        <p:grpSpPr>
          <a:xfrm>
            <a:off x="571500" y="1811461"/>
            <a:ext cx="11096625" cy="3238500"/>
            <a:chOff x="571500" y="1524000"/>
            <a:chExt cx="11096625" cy="3238500"/>
          </a:xfrm>
        </p:grpSpPr>
        <p:sp>
          <p:nvSpPr>
            <p:cNvPr id="147" name="Google Shape;147;p17"/>
            <p:cNvSpPr/>
            <p:nvPr/>
          </p:nvSpPr>
          <p:spPr>
            <a:xfrm>
              <a:off x="571500" y="1524000"/>
              <a:ext cx="2667000" cy="3238500"/>
            </a:xfrm>
            <a:prstGeom prst="roundRect">
              <a:avLst>
                <a:gd fmla="val 5714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571500" y="1524000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4000">
                <a:solidFill>
                  <a:srgbClr val="00C85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763k</a:t>
              </a:r>
              <a:endParaRPr b="1" sz="48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Observaciones</a:t>
              </a:r>
              <a:endParaRPr b="0" sz="16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3381375" y="1524000"/>
              <a:ext cx="2667000" cy="3238500"/>
            </a:xfrm>
            <a:prstGeom prst="roundRect">
              <a:avLst>
                <a:gd fmla="val 5714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3381375" y="1524000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inventory_2</a:t>
              </a:r>
              <a:endParaRPr sz="4000">
                <a:solidFill>
                  <a:srgbClr val="00C85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5.101</a:t>
              </a:r>
              <a:endParaRPr b="1" sz="48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Productos únicos</a:t>
              </a:r>
              <a:endParaRPr b="0" sz="16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6191250" y="1524000"/>
              <a:ext cx="2667000" cy="3238500"/>
            </a:xfrm>
            <a:prstGeom prst="roundRect">
              <a:avLst>
                <a:gd fmla="val 5714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6191250" y="1524000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calendar_month</a:t>
              </a:r>
              <a:endParaRPr sz="4000">
                <a:solidFill>
                  <a:srgbClr val="00C85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176</a:t>
              </a:r>
              <a:endParaRPr b="1" sz="48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Días (nov-25 → may-26)</a:t>
              </a:r>
              <a:endParaRPr b="0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9001125" y="1524000"/>
              <a:ext cx="2667000" cy="3238500"/>
            </a:xfrm>
            <a:prstGeom prst="roundRect">
              <a:avLst>
                <a:gd fmla="val 5714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9001125" y="1524000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4000">
                <a:solidFill>
                  <a:srgbClr val="00C85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26.7x</a:t>
              </a:r>
              <a:endParaRPr b="1" sz="48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Speedup Parquet vs Monolítico</a:t>
              </a:r>
              <a:endParaRPr b="0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09625" y="571500"/>
            <a:ext cx="10572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Detección de anomalías: 3 Dimensiones</a:t>
            </a:r>
            <a:endParaRPr b="1" sz="3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62" name="Google Shape;162;p18"/>
          <p:cNvGrpSpPr/>
          <p:nvPr/>
        </p:nvGrpSpPr>
        <p:grpSpPr>
          <a:xfrm>
            <a:off x="571500" y="1714500"/>
            <a:ext cx="3524400" cy="3429000"/>
            <a:chOff x="571500" y="1714500"/>
            <a:chExt cx="3524400" cy="3429000"/>
          </a:xfrm>
        </p:grpSpPr>
        <p:sp>
          <p:nvSpPr>
            <p:cNvPr id="163" name="Google Shape;163;p18"/>
            <p:cNvSpPr/>
            <p:nvPr/>
          </p:nvSpPr>
          <p:spPr>
            <a:xfrm>
              <a:off x="571500" y="1714500"/>
              <a:ext cx="3524400" cy="3429000"/>
            </a:xfrm>
            <a:prstGeom prst="roundRect">
              <a:avLst>
                <a:gd fmla="val 3333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714375" y="2714625"/>
              <a:ext cx="3238500" cy="19200"/>
            </a:xfrm>
            <a:prstGeom prst="rect">
              <a:avLst/>
            </a:prstGeom>
            <a:solidFill>
              <a:srgbClr val="00C8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714375" y="3305175"/>
              <a:ext cx="32385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714375" y="3886200"/>
              <a:ext cx="32385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714375" y="4467225"/>
              <a:ext cx="32385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714375" y="1857375"/>
              <a:ext cx="3238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C853"/>
                  </a:solidFill>
                  <a:latin typeface="Inter"/>
                  <a:ea typeface="Inter"/>
                  <a:cs typeface="Inter"/>
                  <a:sym typeface="Inter"/>
                </a:rPr>
                <a:t>Z-Score Rolling</a:t>
              </a:r>
              <a:endParaRPr b="1" sz="1500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714375" y="28098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Estadístico Baseline</a:t>
              </a:r>
              <a:endParaRPr b="1" sz="14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714375" y="33813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Temporal puntual</a:t>
              </a:r>
              <a:endParaRPr b="0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714375" y="39528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3.813 alertas</a:t>
              </a:r>
              <a:endParaRPr b="0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714375" y="45243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1.683 productos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4333875" y="1714500"/>
            <a:ext cx="3524400" cy="3429000"/>
            <a:chOff x="4333875" y="1714500"/>
            <a:chExt cx="3524400" cy="3429000"/>
          </a:xfrm>
        </p:grpSpPr>
        <p:sp>
          <p:nvSpPr>
            <p:cNvPr id="174" name="Google Shape;174;p18"/>
            <p:cNvSpPr/>
            <p:nvPr/>
          </p:nvSpPr>
          <p:spPr>
            <a:xfrm>
              <a:off x="4333875" y="1714500"/>
              <a:ext cx="3524400" cy="3429000"/>
            </a:xfrm>
            <a:prstGeom prst="roundRect">
              <a:avLst>
                <a:gd fmla="val 3333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4476750" y="2714625"/>
              <a:ext cx="3238500" cy="19200"/>
            </a:xfrm>
            <a:prstGeom prst="rect">
              <a:avLst/>
            </a:prstGeom>
            <a:solidFill>
              <a:srgbClr val="00C8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4476750" y="3305175"/>
              <a:ext cx="32385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4476750" y="3886200"/>
              <a:ext cx="32385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4476750" y="4467225"/>
              <a:ext cx="32385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4476750" y="1857375"/>
              <a:ext cx="3238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C853"/>
                  </a:solidFill>
                  <a:latin typeface="Inter"/>
                  <a:ea typeface="Inter"/>
                  <a:cs typeface="Inter"/>
                  <a:sym typeface="Inter"/>
                </a:rPr>
                <a:t>Isolation Forest</a:t>
              </a:r>
              <a:endParaRPr b="1" sz="1500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4476750" y="28098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ML no supervisado</a:t>
              </a:r>
              <a:endParaRPr b="1" sz="14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4476750" y="33813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Estructural multivariante</a:t>
              </a:r>
              <a:endParaRPr b="0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4476750" y="39528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3.818 alertas</a:t>
              </a:r>
              <a:endParaRPr b="0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4476750" y="45243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59 productos (Premium)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4" name="Google Shape;184;p18"/>
          <p:cNvGrpSpPr/>
          <p:nvPr/>
        </p:nvGrpSpPr>
        <p:grpSpPr>
          <a:xfrm>
            <a:off x="8096250" y="1714500"/>
            <a:ext cx="3524400" cy="3429000"/>
            <a:chOff x="8096250" y="1714500"/>
            <a:chExt cx="3524400" cy="3429000"/>
          </a:xfrm>
        </p:grpSpPr>
        <p:sp>
          <p:nvSpPr>
            <p:cNvPr id="185" name="Google Shape;185;p18"/>
            <p:cNvSpPr/>
            <p:nvPr/>
          </p:nvSpPr>
          <p:spPr>
            <a:xfrm>
              <a:off x="8096250" y="1714500"/>
              <a:ext cx="3524400" cy="3429000"/>
            </a:xfrm>
            <a:prstGeom prst="roundRect">
              <a:avLst>
                <a:gd fmla="val 3333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8239125" y="2714625"/>
              <a:ext cx="3238500" cy="19200"/>
            </a:xfrm>
            <a:prstGeom prst="rect">
              <a:avLst/>
            </a:prstGeom>
            <a:solidFill>
              <a:srgbClr val="00C8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8239125" y="3305175"/>
              <a:ext cx="32385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8239125" y="3886200"/>
              <a:ext cx="32385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8239125" y="4467225"/>
              <a:ext cx="32385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8239125" y="1857375"/>
              <a:ext cx="3238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C853"/>
                  </a:solidFill>
                  <a:latin typeface="Inter"/>
                  <a:ea typeface="Inter"/>
                  <a:cs typeface="Inter"/>
                  <a:sym typeface="Inter"/>
                </a:rPr>
                <a:t>Autoencoder LSTM</a:t>
              </a:r>
              <a:endParaRPr b="1" sz="1500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8239125" y="28098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Deep Learning</a:t>
              </a:r>
              <a:endParaRPr b="1" sz="14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8239125" y="33813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Secuencial</a:t>
              </a:r>
              <a:endParaRPr b="0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8239125" y="39528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6.929 alertas</a:t>
              </a:r>
              <a:endParaRPr b="0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8239125" y="4524375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1.3</a:t>
              </a:r>
              <a:r>
                <a:rPr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0 productos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5" name="Google Shape;195;p18"/>
          <p:cNvSpPr txBox="1"/>
          <p:nvPr/>
        </p:nvSpPr>
        <p:spPr>
          <a:xfrm>
            <a:off x="571500" y="55245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rPr>
              <a:t>Jaccard entre métodos ≈ 0 → Complementariedad total</a:t>
            </a:r>
            <a:endParaRPr b="1" sz="1500">
              <a:solidFill>
                <a:srgbClr val="00C8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9439275" y="6286500"/>
            <a:ext cx="218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b="0"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9"/>
          <p:cNvGrpSpPr/>
          <p:nvPr/>
        </p:nvGrpSpPr>
        <p:grpSpPr>
          <a:xfrm>
            <a:off x="571500" y="571500"/>
            <a:ext cx="10811025" cy="552600"/>
            <a:chOff x="571500" y="571500"/>
            <a:chExt cx="10811025" cy="552600"/>
          </a:xfrm>
        </p:grpSpPr>
        <p:sp>
          <p:nvSpPr>
            <p:cNvPr id="203" name="Google Shape;203;p19"/>
            <p:cNvSpPr/>
            <p:nvPr/>
          </p:nvSpPr>
          <p:spPr>
            <a:xfrm>
              <a:off x="571500" y="571500"/>
              <a:ext cx="57300" cy="552600"/>
            </a:xfrm>
            <a:prstGeom prst="rect">
              <a:avLst/>
            </a:prstGeom>
            <a:solidFill>
              <a:srgbClr val="00C8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809625" y="571500"/>
              <a:ext cx="105729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Predicción: ¿Cuándo y cuánto cambia?</a:t>
              </a:r>
              <a:endParaRPr b="1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05" name="Google Shape;205;p19"/>
          <p:cNvGrpSpPr/>
          <p:nvPr/>
        </p:nvGrpSpPr>
        <p:grpSpPr>
          <a:xfrm>
            <a:off x="571500" y="1524000"/>
            <a:ext cx="5334000" cy="3048000"/>
            <a:chOff x="571500" y="1524000"/>
            <a:chExt cx="5334000" cy="3048000"/>
          </a:xfrm>
        </p:grpSpPr>
        <p:sp>
          <p:nvSpPr>
            <p:cNvPr id="206" name="Google Shape;206;p19"/>
            <p:cNvSpPr/>
            <p:nvPr/>
          </p:nvSpPr>
          <p:spPr>
            <a:xfrm>
              <a:off x="571500" y="1524000"/>
              <a:ext cx="5334000" cy="3048000"/>
            </a:xfrm>
            <a:prstGeom prst="roundRect">
              <a:avLst>
                <a:gd fmla="val 500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857250" y="18097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LSTM Clasificador</a:t>
              </a:r>
              <a:endParaRPr b="1" sz="24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08" name="Google Shape;208;p19"/>
            <p:cNvSpPr txBox="1"/>
            <p:nvPr/>
          </p:nvSpPr>
          <p:spPr>
            <a:xfrm>
              <a:off x="857250" y="228600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¿Habrá cambio?</a:t>
              </a:r>
              <a:endParaRPr b="1" sz="15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857250" y="2667000"/>
              <a:ext cx="4191000" cy="19200"/>
            </a:xfrm>
            <a:prstGeom prst="rect">
              <a:avLst/>
            </a:prstGeom>
            <a:solidFill>
              <a:srgbClr val="00C853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857250" y="285750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0,893</a:t>
              </a:r>
              <a:endParaRPr b="1" sz="48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857250" y="3667125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AUC-ROC</a:t>
              </a:r>
              <a:endParaRPr b="0" sz="14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8899A6"/>
                  </a:solidFill>
                  <a:latin typeface="Inter"/>
                  <a:ea typeface="Inter"/>
                  <a:cs typeface="Inter"/>
                  <a:sym typeface="Inter"/>
                </a:rPr>
                <a:t>vs 0,771 baseline</a:t>
              </a:r>
              <a:endParaRPr b="0" sz="1400">
                <a:solidFill>
                  <a:srgbClr val="8899A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2" name="Google Shape;212;p19"/>
          <p:cNvGrpSpPr/>
          <p:nvPr/>
        </p:nvGrpSpPr>
        <p:grpSpPr>
          <a:xfrm>
            <a:off x="6286500" y="1524000"/>
            <a:ext cx="5334000" cy="3048000"/>
            <a:chOff x="6286500" y="1524000"/>
            <a:chExt cx="5334000" cy="3048000"/>
          </a:xfrm>
        </p:grpSpPr>
        <p:sp>
          <p:nvSpPr>
            <p:cNvPr id="213" name="Google Shape;213;p19"/>
            <p:cNvSpPr/>
            <p:nvPr/>
          </p:nvSpPr>
          <p:spPr>
            <a:xfrm>
              <a:off x="6286500" y="1524000"/>
              <a:ext cx="5334000" cy="3048000"/>
            </a:xfrm>
            <a:prstGeom prst="roundRect">
              <a:avLst>
                <a:gd fmla="val 500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 txBox="1"/>
            <p:nvPr/>
          </p:nvSpPr>
          <p:spPr>
            <a:xfrm>
              <a:off x="6572250" y="18097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XGBoost Regresor</a:t>
              </a:r>
              <a:endParaRPr b="1" sz="24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5" name="Google Shape;215;p19"/>
            <p:cNvSpPr txBox="1"/>
            <p:nvPr/>
          </p:nvSpPr>
          <p:spPr>
            <a:xfrm>
              <a:off x="6572250" y="228600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¿Cuánto costará?</a:t>
              </a:r>
              <a:endParaRPr b="1" sz="15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6572250" y="2667000"/>
              <a:ext cx="4191000" cy="19200"/>
            </a:xfrm>
            <a:prstGeom prst="rect">
              <a:avLst/>
            </a:prstGeom>
            <a:solidFill>
              <a:srgbClr val="00C853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6572250" y="285750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10,75%</a:t>
              </a:r>
              <a:endParaRPr b="1" sz="48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6572250" y="3667125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MAPE</a:t>
              </a:r>
              <a:endParaRPr b="0" sz="14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8899A6"/>
                  </a:solidFill>
                  <a:latin typeface="Inter"/>
                  <a:ea typeface="Inter"/>
                  <a:cs typeface="Inter"/>
                  <a:sym typeface="Inter"/>
                </a:rPr>
                <a:t>en cambios reales</a:t>
              </a:r>
              <a:endParaRPr b="0" sz="1400">
                <a:solidFill>
                  <a:srgbClr val="8899A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19" name="Google Shape;219;p19"/>
          <p:cNvSpPr txBox="1"/>
          <p:nvPr/>
        </p:nvSpPr>
        <p:spPr>
          <a:xfrm>
            <a:off x="9439275" y="6286500"/>
            <a:ext cx="218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b="0"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Predicción: ¿Cuándo y cuánto cambia?</a:t>
            </a:r>
            <a:endParaRPr/>
          </a:p>
        </p:txBody>
      </p:sp>
      <p:pic>
        <p:nvPicPr>
          <p:cNvPr descr="image.png" id="221" name="Google Shape;22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70412"/>
            <a:ext cx="1104900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771525" y="5170437"/>
            <a:ext cx="10649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rPr>
              <a:t>Integración: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rPr>
              <a:t>prob_cambio_lstm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aparece en el </a:t>
            </a:r>
            <a:r>
              <a:rPr b="1" i="0" lang="en-US" sz="1500" u="none" cap="none" strike="noStrike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rPr>
              <a:t>TOP 11</a:t>
            </a: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de importancia SHAP del XGBoost. Validación cruzada emergente entre modelos.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809625" y="571500"/>
            <a:ext cx="10572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NLP: Análisis de equivalencias</a:t>
            </a:r>
            <a:endParaRPr b="1" sz="3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571500" y="1828800"/>
            <a:ext cx="11049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La marca comercial es un </a:t>
            </a:r>
            <a:r>
              <a:rPr b="1" lang="en-US" sz="2400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rPr>
              <a:t>49%</a:t>
            </a:r>
            <a:r>
              <a:rPr b="0" lang="en-US" sz="24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 más cara</a:t>
            </a:r>
            <a:endParaRPr b="0" sz="240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571500" y="2543175"/>
            <a:ext cx="1104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por unidad de medida que el equivalente de marca propia</a:t>
            </a:r>
            <a:endParaRPr b="0" sz="1500">
              <a:solidFill>
                <a:srgbClr val="DAFFD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4" name="Google Shape;234;p20"/>
          <p:cNvGrpSpPr/>
          <p:nvPr/>
        </p:nvGrpSpPr>
        <p:grpSpPr>
          <a:xfrm>
            <a:off x="571500" y="3333750"/>
            <a:ext cx="11049000" cy="2381400"/>
            <a:chOff x="571500" y="3333750"/>
            <a:chExt cx="11049000" cy="2381400"/>
          </a:xfrm>
        </p:grpSpPr>
        <p:sp>
          <p:nvSpPr>
            <p:cNvPr id="235" name="Google Shape;235;p20"/>
            <p:cNvSpPr/>
            <p:nvPr/>
          </p:nvSpPr>
          <p:spPr>
            <a:xfrm>
              <a:off x="571500" y="3333750"/>
              <a:ext cx="11049000" cy="2381400"/>
            </a:xfrm>
            <a:prstGeom prst="roundRect">
              <a:avLst>
                <a:gd fmla="val 480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809625" y="3857625"/>
              <a:ext cx="10572900" cy="19200"/>
            </a:xfrm>
            <a:prstGeom prst="rect">
              <a:avLst/>
            </a:prstGeom>
            <a:solidFill>
              <a:srgbClr val="00C8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952500" y="3476625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C853"/>
                  </a:solidFill>
                  <a:latin typeface="Inter"/>
                  <a:ea typeface="Inter"/>
                  <a:cs typeface="Inter"/>
                  <a:sym typeface="Inter"/>
                </a:rPr>
                <a:t>Hacendado</a:t>
              </a:r>
              <a:endParaRPr b="1" sz="1300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3810000" y="3476625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C853"/>
                  </a:solidFill>
                  <a:latin typeface="Inter"/>
                  <a:ea typeface="Inter"/>
                  <a:cs typeface="Inter"/>
                  <a:sym typeface="Inter"/>
                </a:rPr>
                <a:t>Equivalente comercial</a:t>
              </a:r>
              <a:endParaRPr b="1" sz="1300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7143750" y="3476625"/>
              <a:ext cx="142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C853"/>
                  </a:solidFill>
                  <a:latin typeface="Inter"/>
                  <a:ea typeface="Inter"/>
                  <a:cs typeface="Inter"/>
                  <a:sym typeface="Inter"/>
                </a:rPr>
                <a:t>Similitud</a:t>
              </a:r>
              <a:endParaRPr b="1" sz="1300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9048750" y="3476625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C853"/>
                  </a:solidFill>
                  <a:latin typeface="Inter"/>
                  <a:ea typeface="Inter"/>
                  <a:cs typeface="Inter"/>
                  <a:sym typeface="Inter"/>
                </a:rPr>
                <a:t>Brecha de precio</a:t>
              </a:r>
              <a:endParaRPr b="1" sz="1300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809625" y="4333875"/>
              <a:ext cx="10572900" cy="96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952500" y="3952875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Crema cacao</a:t>
              </a:r>
              <a:endParaRPr b="0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3" name="Google Shape;243;p20"/>
            <p:cNvSpPr txBox="1"/>
            <p:nvPr/>
          </p:nvSpPr>
          <p:spPr>
            <a:xfrm>
              <a:off x="3810000" y="3952875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Nutella</a:t>
              </a:r>
              <a:endParaRPr b="0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7143750" y="3952875"/>
              <a:ext cx="142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98,5%</a:t>
              </a:r>
              <a:endParaRPr b="0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9048750" y="3952875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E2B2B"/>
                  </a:solidFill>
                  <a:latin typeface="Inter"/>
                  <a:ea typeface="Inter"/>
                  <a:cs typeface="Inter"/>
                  <a:sym typeface="Inter"/>
                </a:rPr>
                <a:t>+193%</a:t>
              </a:r>
              <a:endParaRPr b="1" sz="1100">
                <a:solidFill>
                  <a:srgbClr val="EE2B2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809625" y="4810125"/>
              <a:ext cx="10572900" cy="96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952500" y="4429125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Arroz redondo</a:t>
              </a:r>
              <a:endParaRPr b="0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8" name="Google Shape;248;p20"/>
            <p:cNvSpPr txBox="1"/>
            <p:nvPr/>
          </p:nvSpPr>
          <p:spPr>
            <a:xfrm>
              <a:off x="3810000" y="4429125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La Fallera</a:t>
              </a:r>
              <a:endParaRPr b="0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9" name="Google Shape;249;p20"/>
            <p:cNvSpPr txBox="1"/>
            <p:nvPr/>
          </p:nvSpPr>
          <p:spPr>
            <a:xfrm>
              <a:off x="7143750" y="4429125"/>
              <a:ext cx="142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95,4%</a:t>
              </a:r>
              <a:endParaRPr b="0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0" name="Google Shape;250;p20"/>
            <p:cNvSpPr txBox="1"/>
            <p:nvPr/>
          </p:nvSpPr>
          <p:spPr>
            <a:xfrm>
              <a:off x="9048750" y="4429125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E2B2B"/>
                  </a:solidFill>
                  <a:latin typeface="Inter"/>
                  <a:ea typeface="Inter"/>
                  <a:cs typeface="Inter"/>
                  <a:sym typeface="Inter"/>
                </a:rPr>
                <a:t>+41%</a:t>
              </a:r>
              <a:endParaRPr b="1" sz="1100">
                <a:solidFill>
                  <a:srgbClr val="EE2B2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809625" y="5286375"/>
              <a:ext cx="10572900" cy="96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 txBox="1"/>
            <p:nvPr/>
          </p:nvSpPr>
          <p:spPr>
            <a:xfrm>
              <a:off x="952500" y="4905375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Batido chocolate</a:t>
              </a:r>
              <a:endParaRPr b="0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3810000" y="4905375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Puleva</a:t>
              </a:r>
              <a:endParaRPr b="0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7143750" y="4905375"/>
              <a:ext cx="142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99,3%</a:t>
              </a:r>
              <a:endParaRPr b="0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9048750" y="4905375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E2B2B"/>
                  </a:solidFill>
                  <a:latin typeface="Inter"/>
                  <a:ea typeface="Inter"/>
                  <a:cs typeface="Inter"/>
                  <a:sym typeface="Inter"/>
                </a:rPr>
                <a:t>+31%</a:t>
              </a:r>
              <a:endParaRPr b="1" sz="1100">
                <a:solidFill>
                  <a:srgbClr val="EE2B2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56" name="Google Shape;256;p20"/>
          <p:cNvSpPr txBox="1"/>
          <p:nvPr/>
        </p:nvSpPr>
        <p:spPr>
          <a:xfrm>
            <a:off x="571500" y="59055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924 equivalencias · Similitud media 0,844 · Modelo MiniLM-L12-v2</a:t>
            </a:r>
            <a:endParaRPr b="0" sz="1200">
              <a:solidFill>
                <a:srgbClr val="DAFFD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9439275" y="6286500"/>
            <a:ext cx="218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b="0"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809625" y="571500"/>
            <a:ext cx="105729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IPC Personalizado: Tu inflación real</a:t>
            </a:r>
            <a:endParaRPr b="1" sz="3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266" name="Google Shape;266;p21"/>
          <p:cNvGrpSpPr/>
          <p:nvPr/>
        </p:nvGrpSpPr>
        <p:grpSpPr>
          <a:xfrm>
            <a:off x="571500" y="1524000"/>
            <a:ext cx="5334000" cy="4000500"/>
            <a:chOff x="571500" y="1524000"/>
            <a:chExt cx="5334000" cy="4000500"/>
          </a:xfrm>
        </p:grpSpPr>
        <p:sp>
          <p:nvSpPr>
            <p:cNvPr id="267" name="Google Shape;267;p21"/>
            <p:cNvSpPr/>
            <p:nvPr/>
          </p:nvSpPr>
          <p:spPr>
            <a:xfrm>
              <a:off x="571500" y="1524000"/>
              <a:ext cx="5334000" cy="4000500"/>
            </a:xfrm>
            <a:prstGeom prst="roundRect">
              <a:avLst>
                <a:gd fmla="val 3809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8" name="Google Shape;268;p21"/>
            <p:cNvPicPr preferRelativeResize="0"/>
            <p:nvPr/>
          </p:nvPicPr>
          <p:blipFill rotWithShape="1">
            <a:blip r:embed="rId5">
              <a:alphaModFix/>
            </a:blip>
            <a:srcRect b="0" l="11526" r="11533" t="0"/>
            <a:stretch/>
          </p:blipFill>
          <p:spPr>
            <a:xfrm>
              <a:off x="762000" y="1714500"/>
              <a:ext cx="4953000" cy="3619500"/>
            </a:xfrm>
            <a:prstGeom prst="roundRect">
              <a:avLst>
                <a:gd fmla="val 3157" name="adj"/>
              </a:avLst>
            </a:prstGeom>
            <a:noFill/>
            <a:ln>
              <a:noFill/>
            </a:ln>
          </p:spPr>
        </p:pic>
      </p:grpSp>
      <p:grpSp>
        <p:nvGrpSpPr>
          <p:cNvPr id="269" name="Google Shape;269;p21"/>
          <p:cNvGrpSpPr/>
          <p:nvPr/>
        </p:nvGrpSpPr>
        <p:grpSpPr>
          <a:xfrm>
            <a:off x="6286500" y="1524000"/>
            <a:ext cx="5334000" cy="2667000"/>
            <a:chOff x="6286500" y="1524000"/>
            <a:chExt cx="5334000" cy="2667000"/>
          </a:xfrm>
        </p:grpSpPr>
        <p:sp>
          <p:nvSpPr>
            <p:cNvPr id="270" name="Google Shape;270;p21"/>
            <p:cNvSpPr/>
            <p:nvPr/>
          </p:nvSpPr>
          <p:spPr>
            <a:xfrm>
              <a:off x="6286500" y="1524000"/>
              <a:ext cx="5334000" cy="2667000"/>
            </a:xfrm>
            <a:prstGeom prst="roundRect">
              <a:avLst>
                <a:gd fmla="val 5714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 txBox="1"/>
            <p:nvPr/>
          </p:nvSpPr>
          <p:spPr>
            <a:xfrm>
              <a:off x="6572250" y="176212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Cesta Dani (50 productos)</a:t>
              </a:r>
              <a:endParaRPr b="1" sz="20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6572250" y="2238375"/>
              <a:ext cx="4191000" cy="19200"/>
            </a:xfrm>
            <a:prstGeom prst="rect">
              <a:avLst/>
            </a:prstGeom>
            <a:solidFill>
              <a:srgbClr val="00C853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 txBox="1"/>
            <p:nvPr/>
          </p:nvSpPr>
          <p:spPr>
            <a:xfrm>
              <a:off x="6572250" y="2381250"/>
              <a:ext cx="476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IPC: 98,49</a:t>
              </a:r>
              <a:endParaRPr b="1" sz="54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74" name="Google Shape;274;p21"/>
            <p:cNvSpPr txBox="1"/>
            <p:nvPr/>
          </p:nvSpPr>
          <p:spPr>
            <a:xfrm>
              <a:off x="6572250" y="342900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0C853"/>
                  </a:solidFill>
                  <a:latin typeface="Inter"/>
                  <a:ea typeface="Inter"/>
                  <a:cs typeface="Inter"/>
                  <a:sym typeface="Inter"/>
                </a:rPr>
                <a:t>-</a:t>
              </a:r>
              <a:r>
                <a:rPr lang="en-US" sz="1800">
                  <a:solidFill>
                    <a:srgbClr val="00C853"/>
                  </a:solidFill>
                  <a:latin typeface="Inter"/>
                  <a:ea typeface="Inter"/>
                  <a:cs typeface="Inter"/>
                  <a:sym typeface="Inter"/>
                </a:rPr>
                <a:t>1,5</a:t>
              </a:r>
              <a:r>
                <a:rPr b="0" lang="en-US" sz="1800">
                  <a:solidFill>
                    <a:srgbClr val="00C853"/>
                  </a:solidFill>
                  <a:latin typeface="Inter"/>
                  <a:ea typeface="Inter"/>
                  <a:cs typeface="Inter"/>
                  <a:sym typeface="Inter"/>
                </a:rPr>
                <a:t>% desde nov-25</a:t>
              </a:r>
              <a:endParaRPr b="0" sz="1800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5" name="Google Shape;275;p21"/>
          <p:cNvGrpSpPr/>
          <p:nvPr/>
        </p:nvGrpSpPr>
        <p:grpSpPr>
          <a:xfrm>
            <a:off x="6286500" y="4381500"/>
            <a:ext cx="5334000" cy="1143000"/>
            <a:chOff x="6286500" y="4381500"/>
            <a:chExt cx="5334000" cy="1143000"/>
          </a:xfrm>
        </p:grpSpPr>
        <p:sp>
          <p:nvSpPr>
            <p:cNvPr id="276" name="Google Shape;276;p21"/>
            <p:cNvSpPr/>
            <p:nvPr/>
          </p:nvSpPr>
          <p:spPr>
            <a:xfrm>
              <a:off x="6286500" y="4381500"/>
              <a:ext cx="5334000" cy="1143000"/>
            </a:xfrm>
            <a:prstGeom prst="roundRect">
              <a:avLst>
                <a:gd fmla="val 13333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 txBox="1"/>
            <p:nvPr/>
          </p:nvSpPr>
          <p:spPr>
            <a:xfrm>
              <a:off x="6572250" y="438150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/>
            </a:p>
          </p:txBody>
        </p:sp>
      </p:grpSp>
      <p:sp>
        <p:nvSpPr>
          <p:cNvPr id="278" name="Google Shape;278;p21"/>
          <p:cNvSpPr txBox="1"/>
          <p:nvPr/>
        </p:nvSpPr>
        <p:spPr>
          <a:xfrm>
            <a:off x="9439275" y="6286500"/>
            <a:ext cx="218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b="0"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6836325" y="4546064"/>
            <a:ext cx="3575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6 perfiles predefinidos</a:t>
            </a:r>
            <a:endParaRPr>
              <a:solidFill>
                <a:srgbClr val="DAFF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AFF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DAFFD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6836325" y="4914475"/>
            <a:ext cx="31527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Cálculo ponderado real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Análisis complementarios</a:t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484448" y="2424050"/>
            <a:ext cx="3610500" cy="2943300"/>
          </a:xfrm>
          <a:prstGeom prst="roundRect">
            <a:avLst>
              <a:gd fmla="val 4289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866775" y="3319462"/>
            <a:ext cx="311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rPr>
              <a:t>K-Means</a:t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4277048" y="2424063"/>
            <a:ext cx="3610500" cy="2943300"/>
          </a:xfrm>
          <a:prstGeom prst="roundRect">
            <a:avLst>
              <a:gd fmla="val 4289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866775" y="3929062"/>
            <a:ext cx="296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5 perfiles de negocio.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866775" y="4357687"/>
            <a:ext cx="296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Silhouette: 0,441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866775" y="4786312"/>
            <a:ext cx="296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76% varianza PCA.</a:t>
            </a:r>
            <a:endParaRPr/>
          </a:p>
        </p:txBody>
      </p:sp>
      <p:pic>
        <p:nvPicPr>
          <p:cNvPr descr="image.png" id="294" name="Google Shape;29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75" y="2747962"/>
            <a:ext cx="428625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22"/>
          <p:cNvGrpSpPr/>
          <p:nvPr/>
        </p:nvGrpSpPr>
        <p:grpSpPr>
          <a:xfrm>
            <a:off x="4557963" y="2747962"/>
            <a:ext cx="3113700" cy="2269350"/>
            <a:chOff x="4613225" y="2747962"/>
            <a:chExt cx="3113700" cy="2269350"/>
          </a:xfrm>
        </p:grpSpPr>
        <p:sp>
          <p:nvSpPr>
            <p:cNvPr id="296" name="Google Shape;296;p22"/>
            <p:cNvSpPr txBox="1"/>
            <p:nvPr/>
          </p:nvSpPr>
          <p:spPr>
            <a:xfrm>
              <a:off x="4613225" y="3319462"/>
              <a:ext cx="3113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Shrinkflation</a:t>
              </a:r>
              <a:endParaRPr/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4613225" y="3929062"/>
              <a:ext cx="2965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20 alertas detectadas.</a:t>
              </a:r>
              <a:endParaRPr/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4613225" y="4357687"/>
              <a:ext cx="2965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Alcachofa:</a:t>
              </a:r>
              <a:r>
                <a:rPr b="0" i="0" lang="en-US" sz="1500" u="none" cap="none" strike="noStrike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 +31,6% €/kg.</a:t>
              </a:r>
              <a:endParaRPr/>
            </a:p>
          </p:txBody>
        </p:sp>
        <p:sp>
          <p:nvSpPr>
            <p:cNvPr id="299" name="Google Shape;299;p22"/>
            <p:cNvSpPr txBox="1"/>
            <p:nvPr/>
          </p:nvSpPr>
          <p:spPr>
            <a:xfrm>
              <a:off x="4613225" y="4786312"/>
              <a:ext cx="2965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Mismo precio, menos peso.</a:t>
              </a:r>
              <a:endParaRPr/>
            </a:p>
          </p:txBody>
        </p:sp>
        <p:pic>
          <p:nvPicPr>
            <p:cNvPr descr="image.png" id="300" name="Google Shape;300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13225" y="2747962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1" name="Google Shape;301;p22"/>
          <p:cNvSpPr/>
          <p:nvPr/>
        </p:nvSpPr>
        <p:spPr>
          <a:xfrm>
            <a:off x="8069615" y="2424063"/>
            <a:ext cx="3610500" cy="2943300"/>
          </a:xfrm>
          <a:prstGeom prst="roundRect">
            <a:avLst>
              <a:gd fmla="val 4289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22"/>
          <p:cNvGrpSpPr/>
          <p:nvPr/>
        </p:nvGrpSpPr>
        <p:grpSpPr>
          <a:xfrm>
            <a:off x="8359675" y="2747962"/>
            <a:ext cx="3113700" cy="2269350"/>
            <a:chOff x="8359675" y="2747962"/>
            <a:chExt cx="3113700" cy="2269350"/>
          </a:xfrm>
        </p:grpSpPr>
        <p:sp>
          <p:nvSpPr>
            <p:cNvPr id="303" name="Google Shape;303;p22"/>
            <p:cNvSpPr txBox="1"/>
            <p:nvPr/>
          </p:nvSpPr>
          <p:spPr>
            <a:xfrm>
              <a:off x="8359675" y="3319462"/>
              <a:ext cx="3113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Catálogo</a:t>
              </a:r>
              <a:endParaRPr/>
            </a:p>
          </p:txBody>
        </p:sp>
        <p:sp>
          <p:nvSpPr>
            <p:cNvPr id="304" name="Google Shape;304;p22"/>
            <p:cNvSpPr txBox="1"/>
            <p:nvPr/>
          </p:nvSpPr>
          <p:spPr>
            <a:xfrm>
              <a:off x="8359675" y="3929062"/>
              <a:ext cx="2965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615 nuevos lanzamientos.</a:t>
              </a:r>
              <a:endParaRPr/>
            </a:p>
          </p:txBody>
        </p:sp>
        <p:sp>
          <p:nvSpPr>
            <p:cNvPr id="305" name="Google Shape;305;p22"/>
            <p:cNvSpPr txBox="1"/>
            <p:nvPr/>
          </p:nvSpPr>
          <p:spPr>
            <a:xfrm>
              <a:off x="8359675" y="4357687"/>
              <a:ext cx="2965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717 bajas confirmadas.</a:t>
              </a:r>
              <a:endParaRPr/>
            </a:p>
          </p:txBody>
        </p:sp>
        <p:sp>
          <p:nvSpPr>
            <p:cNvPr id="306" name="Google Shape;306;p22"/>
            <p:cNvSpPr txBox="1"/>
            <p:nvPr/>
          </p:nvSpPr>
          <p:spPr>
            <a:xfrm>
              <a:off x="8359675" y="4786312"/>
              <a:ext cx="2965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Pico Marzo: +157 productos.</a:t>
              </a:r>
              <a:endParaRPr/>
            </a:p>
          </p:txBody>
        </p:sp>
        <p:pic>
          <p:nvPicPr>
            <p:cNvPr descr="image.png" id="307" name="Google Shape;307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359675" y="2747962"/>
              <a:ext cx="428625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8" name="Google Shape;308;p22"/>
          <p:cNvSpPr txBox="1"/>
          <p:nvPr/>
        </p:nvSpPr>
        <p:spPr>
          <a:xfrm>
            <a:off x="9439275" y="6286500"/>
            <a:ext cx="218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b="0"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3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809625" y="571500"/>
            <a:ext cx="11049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Convergencia intermodular emergente</a:t>
            </a:r>
            <a:endParaRPr b="1" sz="3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316" name="Google Shape;316;p23"/>
          <p:cNvGrpSpPr/>
          <p:nvPr/>
        </p:nvGrpSpPr>
        <p:grpSpPr>
          <a:xfrm>
            <a:off x="571500" y="1524000"/>
            <a:ext cx="3429000" cy="2667000"/>
            <a:chOff x="571500" y="1524000"/>
            <a:chExt cx="3429000" cy="2667000"/>
          </a:xfrm>
        </p:grpSpPr>
        <p:sp>
          <p:nvSpPr>
            <p:cNvPr id="317" name="Google Shape;317;p23"/>
            <p:cNvSpPr/>
            <p:nvPr/>
          </p:nvSpPr>
          <p:spPr>
            <a:xfrm>
              <a:off x="571500" y="1524000"/>
              <a:ext cx="3429000" cy="2667000"/>
            </a:xfrm>
            <a:prstGeom prst="roundRect">
              <a:avLst>
                <a:gd fmla="val 5714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3"/>
            <p:cNvSpPr txBox="1"/>
            <p:nvPr/>
          </p:nvSpPr>
          <p:spPr>
            <a:xfrm>
              <a:off x="809625" y="1762125"/>
              <a:ext cx="2952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Detección Temporal</a:t>
              </a:r>
              <a:endParaRPr b="1" sz="20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LSTM detecta cambios temporales</a:t>
              </a:r>
              <a:endParaRPr b="0" sz="15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1" lang="en-US" sz="13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Confirmado por </a:t>
              </a:r>
              <a:r>
                <a:rPr b="1" i="1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SHAP XGBoost</a:t>
              </a:r>
              <a:r>
                <a:rPr b="0" i="1" lang="en-US" sz="13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 (pos. 9)</a:t>
              </a:r>
              <a:endParaRPr b="0" i="1" sz="13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9" name="Google Shape;319;p23"/>
          <p:cNvGrpSpPr/>
          <p:nvPr/>
        </p:nvGrpSpPr>
        <p:grpSpPr>
          <a:xfrm>
            <a:off x="4381500" y="1524000"/>
            <a:ext cx="3429000" cy="2667000"/>
            <a:chOff x="4381500" y="1524000"/>
            <a:chExt cx="3429000" cy="2667000"/>
          </a:xfrm>
        </p:grpSpPr>
        <p:sp>
          <p:nvSpPr>
            <p:cNvPr id="320" name="Google Shape;320;p23"/>
            <p:cNvSpPr/>
            <p:nvPr/>
          </p:nvSpPr>
          <p:spPr>
            <a:xfrm>
              <a:off x="4381500" y="1524000"/>
              <a:ext cx="3429000" cy="2667000"/>
            </a:xfrm>
            <a:prstGeom prst="roundRect">
              <a:avLst>
                <a:gd fmla="val 5714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4619625" y="1762125"/>
              <a:ext cx="2952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Detección de Anomalías</a:t>
              </a:r>
              <a:endParaRPr b="1" sz="20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XGBoost se degrada en abril-mayo</a:t>
              </a:r>
              <a:endParaRPr b="0" sz="15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1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Autoencoder</a:t>
              </a:r>
              <a:r>
                <a:rPr b="0" i="1" lang="en-US" sz="13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 detecta pico de anomalías</a:t>
              </a:r>
              <a:endParaRPr b="0" i="1" sz="13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2" name="Google Shape;322;p23"/>
          <p:cNvGrpSpPr/>
          <p:nvPr/>
        </p:nvGrpSpPr>
        <p:grpSpPr>
          <a:xfrm>
            <a:off x="8191500" y="1524000"/>
            <a:ext cx="3429000" cy="2667000"/>
            <a:chOff x="8191500" y="1524000"/>
            <a:chExt cx="3429000" cy="2667000"/>
          </a:xfrm>
        </p:grpSpPr>
        <p:sp>
          <p:nvSpPr>
            <p:cNvPr id="323" name="Google Shape;323;p23"/>
            <p:cNvSpPr/>
            <p:nvPr/>
          </p:nvSpPr>
          <p:spPr>
            <a:xfrm>
              <a:off x="8191500" y="1524000"/>
              <a:ext cx="3429000" cy="2667000"/>
            </a:xfrm>
            <a:prstGeom prst="roundRect">
              <a:avLst>
                <a:gd fmla="val 5714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8429625" y="1762125"/>
              <a:ext cx="2952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Independencia Metodológica</a:t>
              </a:r>
              <a:endParaRPr b="1" sz="20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Jaccard ≈ 0 </a:t>
              </a:r>
              <a:r>
                <a:rPr b="0" lang="en-US" sz="15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entre detectores</a:t>
              </a:r>
              <a:endParaRPr b="1" sz="15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8B949E"/>
                  </a:solidFill>
                  <a:latin typeface="Inter"/>
                  <a:ea typeface="Inter"/>
                  <a:cs typeface="Inter"/>
                  <a:sym typeface="Inter"/>
                </a:rPr>
                <a:t>Sin redundancia, máxima cobertura de alertas</a:t>
              </a:r>
              <a:endParaRPr b="0" sz="13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25" name="Google Shape;325;p23"/>
          <p:cNvSpPr txBox="1"/>
          <p:nvPr/>
        </p:nvSpPr>
        <p:spPr>
          <a:xfrm>
            <a:off x="8763000" y="628650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b="0"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326" name="Google Shape;326;p23"/>
          <p:cNvGrpSpPr/>
          <p:nvPr/>
        </p:nvGrpSpPr>
        <p:grpSpPr>
          <a:xfrm>
            <a:off x="571500" y="4429125"/>
            <a:ext cx="11049000" cy="1428900"/>
            <a:chOff x="571500" y="4429125"/>
            <a:chExt cx="11049000" cy="1428900"/>
          </a:xfrm>
        </p:grpSpPr>
        <p:pic>
          <p:nvPicPr>
            <p:cNvPr id="327" name="Google Shape;327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4429125"/>
              <a:ext cx="11049000" cy="1428900"/>
            </a:xfrm>
            <a:prstGeom prst="roundRect">
              <a:avLst>
                <a:gd fmla="val 17629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28" name="Google Shape;328;p23"/>
            <p:cNvSpPr txBox="1"/>
            <p:nvPr/>
          </p:nvSpPr>
          <p:spPr>
            <a:xfrm>
              <a:off x="857250" y="4572000"/>
              <a:ext cx="104775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Validación cruzada emergente</a:t>
              </a:r>
              <a:endParaRPr b="1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1" lang="en-US" sz="16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Los módulos validan mutuamente la veracidad de los cambios sin haber sido diseñados para ello.</a:t>
              </a:r>
              <a:endParaRPr b="0" i="1" sz="16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24"/>
          <p:cNvGrpSpPr/>
          <p:nvPr/>
        </p:nvGrpSpPr>
        <p:grpSpPr>
          <a:xfrm>
            <a:off x="-476250" y="-476250"/>
            <a:ext cx="13335000" cy="7620000"/>
            <a:chOff x="-476250" y="-476250"/>
            <a:chExt cx="13335000" cy="7620000"/>
          </a:xfrm>
        </p:grpSpPr>
        <p:sp>
          <p:nvSpPr>
            <p:cNvPr id="335" name="Google Shape;335;p24"/>
            <p:cNvSpPr/>
            <p:nvPr/>
          </p:nvSpPr>
          <p:spPr>
            <a:xfrm>
              <a:off x="10001250" y="-476250"/>
              <a:ext cx="2857500" cy="2857500"/>
            </a:xfrm>
            <a:prstGeom prst="ellipse">
              <a:avLst/>
            </a:prstGeom>
            <a:solidFill>
              <a:srgbClr val="00C853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-476250" y="5238750"/>
              <a:ext cx="1905000" cy="1905000"/>
            </a:xfrm>
            <a:prstGeom prst="ellipse">
              <a:avLst/>
            </a:prstGeom>
            <a:solidFill>
              <a:srgbClr val="00C853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24"/>
          <p:cNvGrpSpPr/>
          <p:nvPr/>
        </p:nvGrpSpPr>
        <p:grpSpPr>
          <a:xfrm>
            <a:off x="5524500" y="1905000"/>
            <a:ext cx="6096000" cy="3429000"/>
            <a:chOff x="5524500" y="1905000"/>
            <a:chExt cx="6096000" cy="3429000"/>
          </a:xfrm>
        </p:grpSpPr>
        <p:sp>
          <p:nvSpPr>
            <p:cNvPr id="338" name="Google Shape;338;p24"/>
            <p:cNvSpPr/>
            <p:nvPr/>
          </p:nvSpPr>
          <p:spPr>
            <a:xfrm>
              <a:off x="5524500" y="1905000"/>
              <a:ext cx="6096000" cy="3429000"/>
            </a:xfrm>
            <a:prstGeom prst="roundRect">
              <a:avLst>
                <a:gd fmla="val 3333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9" name="Google Shape;339;p24"/>
            <p:cNvPicPr preferRelativeResize="0"/>
            <p:nvPr/>
          </p:nvPicPr>
          <p:blipFill rotWithShape="1">
            <a:blip r:embed="rId5">
              <a:alphaModFix/>
            </a:blip>
            <a:srcRect b="1229" l="0" r="0" t="1239"/>
            <a:stretch/>
          </p:blipFill>
          <p:spPr>
            <a:xfrm>
              <a:off x="5619750" y="2000250"/>
              <a:ext cx="5905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24"/>
          <p:cNvGrpSpPr/>
          <p:nvPr/>
        </p:nvGrpSpPr>
        <p:grpSpPr>
          <a:xfrm>
            <a:off x="571500" y="1714500"/>
            <a:ext cx="4572000" cy="3429150"/>
            <a:chOff x="571500" y="1714500"/>
            <a:chExt cx="4572000" cy="3429150"/>
          </a:xfrm>
        </p:grpSpPr>
        <p:sp>
          <p:nvSpPr>
            <p:cNvPr id="341" name="Google Shape;341;p24"/>
            <p:cNvSpPr/>
            <p:nvPr/>
          </p:nvSpPr>
          <p:spPr>
            <a:xfrm>
              <a:off x="571500" y="1714500"/>
              <a:ext cx="4572000" cy="1809600"/>
            </a:xfrm>
            <a:prstGeom prst="roundRect">
              <a:avLst>
                <a:gd fmla="val 6315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4"/>
            <p:cNvSpPr txBox="1"/>
            <p:nvPr/>
          </p:nvSpPr>
          <p:spPr>
            <a:xfrm>
              <a:off x="809625" y="1857375"/>
              <a:ext cx="4095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API Flask</a:t>
              </a:r>
              <a:endParaRPr b="1" sz="21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api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00">
                <a:solidFill>
                  <a:srgbClr val="00C85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00">
                <a:solidFill>
                  <a:srgbClr val="00C85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/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571500" y="3714750"/>
              <a:ext cx="4572000" cy="1428900"/>
            </a:xfrm>
            <a:prstGeom prst="roundRect">
              <a:avLst>
                <a:gd fmla="val 800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4"/>
            <p:cNvSpPr txBox="1"/>
            <p:nvPr/>
          </p:nvSpPr>
          <p:spPr>
            <a:xfrm>
              <a:off x="809625" y="3857625"/>
              <a:ext cx="4095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Frontend Vue 3</a:t>
              </a:r>
              <a:endParaRPr b="1" sz="21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C85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/>
            </a:p>
          </p:txBody>
        </p:sp>
      </p:grpSp>
      <p:sp>
        <p:nvSpPr>
          <p:cNvPr id="345" name="Google Shape;345;p24"/>
          <p:cNvSpPr txBox="1"/>
          <p:nvPr/>
        </p:nvSpPr>
        <p:spPr>
          <a:xfrm>
            <a:off x="8763000" y="62865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6" name="Google Shape;346;p24"/>
          <p:cNvSpPr txBox="1"/>
          <p:nvPr/>
        </p:nvSpPr>
        <p:spPr>
          <a:xfrm>
            <a:off x="1159250" y="4192527"/>
            <a:ext cx="2416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8 vistas interactivas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Interfaz de usuario</a:t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1159250" y="2221000"/>
            <a:ext cx="2524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11 endpoints REST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 txBox="1"/>
          <p:nvPr/>
        </p:nvSpPr>
        <p:spPr>
          <a:xfrm>
            <a:off x="1159250" y="2654336"/>
            <a:ext cx="2416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Latencia &lt; 50ms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1159250" y="3066055"/>
            <a:ext cx="27627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Carga optimizada en memoria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 txBox="1"/>
          <p:nvPr/>
        </p:nvSpPr>
        <p:spPr>
          <a:xfrm>
            <a:off x="1159250" y="4571993"/>
            <a:ext cx="2578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Visualización con ECharts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25"/>
          <p:cNvGrpSpPr/>
          <p:nvPr/>
        </p:nvGrpSpPr>
        <p:grpSpPr>
          <a:xfrm>
            <a:off x="571500" y="1428750"/>
            <a:ext cx="11049000" cy="1143000"/>
            <a:chOff x="571500" y="1428750"/>
            <a:chExt cx="11049000" cy="1143000"/>
          </a:xfrm>
        </p:grpSpPr>
        <p:sp>
          <p:nvSpPr>
            <p:cNvPr id="359" name="Google Shape;359;p25"/>
            <p:cNvSpPr/>
            <p:nvPr/>
          </p:nvSpPr>
          <p:spPr>
            <a:xfrm>
              <a:off x="571500" y="1428750"/>
              <a:ext cx="11049000" cy="1143000"/>
            </a:xfrm>
            <a:prstGeom prst="roundRect">
              <a:avLst>
                <a:gd fmla="val 1250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5"/>
            <p:cNvSpPr txBox="1"/>
            <p:nvPr/>
          </p:nvSpPr>
          <p:spPr>
            <a:xfrm>
              <a:off x="857250" y="1619250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5F5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docker-compose </a:t>
              </a:r>
              <a:r>
                <a:rPr lang="en-US" sz="3200">
                  <a:solidFill>
                    <a:srgbClr val="00C85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up -d</a:t>
              </a:r>
              <a:endParaRPr sz="3200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61" name="Google Shape;361;p25"/>
          <p:cNvGrpSpPr/>
          <p:nvPr/>
        </p:nvGrpSpPr>
        <p:grpSpPr>
          <a:xfrm>
            <a:off x="571500" y="2857500"/>
            <a:ext cx="11049075" cy="1428900"/>
            <a:chOff x="571500" y="2857500"/>
            <a:chExt cx="11049075" cy="1428900"/>
          </a:xfrm>
        </p:grpSpPr>
        <p:sp>
          <p:nvSpPr>
            <p:cNvPr id="362" name="Google Shape;362;p25"/>
            <p:cNvSpPr/>
            <p:nvPr/>
          </p:nvSpPr>
          <p:spPr>
            <a:xfrm>
              <a:off x="571500" y="2857500"/>
              <a:ext cx="2524200" cy="1428900"/>
            </a:xfrm>
            <a:prstGeom prst="roundRect">
              <a:avLst>
                <a:gd fmla="val 800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5"/>
            <p:cNvSpPr/>
            <p:nvPr/>
          </p:nvSpPr>
          <p:spPr>
            <a:xfrm>
              <a:off x="3413093" y="2857500"/>
              <a:ext cx="2524200" cy="1428900"/>
            </a:xfrm>
            <a:prstGeom prst="roundRect">
              <a:avLst>
                <a:gd fmla="val 800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5"/>
            <p:cNvSpPr/>
            <p:nvPr/>
          </p:nvSpPr>
          <p:spPr>
            <a:xfrm>
              <a:off x="6254686" y="2857500"/>
              <a:ext cx="2524200" cy="1428900"/>
            </a:xfrm>
            <a:prstGeom prst="roundRect">
              <a:avLst>
                <a:gd fmla="val 800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5"/>
            <p:cNvSpPr/>
            <p:nvPr/>
          </p:nvSpPr>
          <p:spPr>
            <a:xfrm>
              <a:off x="9096375" y="2857500"/>
              <a:ext cx="2524200" cy="1428900"/>
            </a:xfrm>
            <a:prstGeom prst="roundRect">
              <a:avLst>
                <a:gd fmla="val 800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" name="Google Shape;366;p25"/>
          <p:cNvGrpSpPr/>
          <p:nvPr/>
        </p:nvGrpSpPr>
        <p:grpSpPr>
          <a:xfrm>
            <a:off x="571500" y="4572000"/>
            <a:ext cx="11049000" cy="952500"/>
            <a:chOff x="571500" y="4572000"/>
            <a:chExt cx="11049000" cy="952500"/>
          </a:xfrm>
        </p:grpSpPr>
        <p:sp>
          <p:nvSpPr>
            <p:cNvPr id="367" name="Google Shape;367;p25"/>
            <p:cNvSpPr/>
            <p:nvPr/>
          </p:nvSpPr>
          <p:spPr>
            <a:xfrm>
              <a:off x="571500" y="4572000"/>
              <a:ext cx="11049000" cy="952500"/>
            </a:xfrm>
            <a:prstGeom prst="roundRect">
              <a:avLst>
                <a:gd fmla="val 15000" name="adj"/>
              </a:avLst>
            </a:prstGeom>
            <a:solidFill>
              <a:srgbClr val="00C853">
                <a:alpha val="10000"/>
              </a:srgbClr>
            </a:solidFill>
            <a:ln cap="flat" cmpd="sng" w="9525">
              <a:solidFill>
                <a:srgbClr val="00C8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5"/>
            <p:cNvSpPr txBox="1"/>
            <p:nvPr/>
          </p:nvSpPr>
          <p:spPr>
            <a:xfrm>
              <a:off x="857250" y="4572000"/>
              <a:ext cx="1047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Multi-stage build: </a:t>
              </a:r>
              <a:r>
                <a:rPr b="1" lang="en-US" sz="22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Optimización 97%</a:t>
              </a:r>
              <a:endParaRPr b="1" sz="22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Reducción drástica del tamaño de imagen: 1GB → 30MB</a:t>
              </a:r>
              <a:endParaRPr sz="16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69" name="Google Shape;369;p25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 -d</a:t>
            </a:r>
            <a:endParaRPr/>
          </a:p>
        </p:txBody>
      </p:sp>
      <p:sp>
        <p:nvSpPr>
          <p:cNvPr id="370" name="Google Shape;370;p25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Multi-stage build info</a:t>
            </a:r>
            <a:endParaRPr/>
          </a:p>
        </p:txBody>
      </p:sp>
      <p:sp>
        <p:nvSpPr>
          <p:cNvPr id="371" name="Google Shape;371;p25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Elasticsearch (9200)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Kibana (5601)</a:t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API Flask (5000)</a:t>
            </a:r>
            <a:endParaRPr/>
          </a:p>
        </p:txBody>
      </p:sp>
      <p:sp>
        <p:nvSpPr>
          <p:cNvPr id="374" name="Google Shape;374;p25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Nginx Front (80)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Despliegue con Docker</a:t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5"/>
          <p:cNvSpPr txBox="1"/>
          <p:nvPr/>
        </p:nvSpPr>
        <p:spPr>
          <a:xfrm>
            <a:off x="8763000" y="62865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78" name="Google Shape;3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614" y="3194438"/>
            <a:ext cx="20288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 txBox="1"/>
          <p:nvPr/>
        </p:nvSpPr>
        <p:spPr>
          <a:xfrm>
            <a:off x="888444" y="3718313"/>
            <a:ext cx="202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Elasticsearch (9200)</a:t>
            </a:r>
            <a:endParaRPr/>
          </a:p>
        </p:txBody>
      </p:sp>
      <p:pic>
        <p:nvPicPr>
          <p:cNvPr descr="image.png" id="380" name="Google Shape;38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52489" y="3194438"/>
            <a:ext cx="20288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5"/>
          <p:cNvSpPr txBox="1"/>
          <p:nvPr/>
        </p:nvSpPr>
        <p:spPr>
          <a:xfrm>
            <a:off x="3698319" y="3718313"/>
            <a:ext cx="202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Kibana (5601)</a:t>
            </a:r>
            <a:endParaRPr/>
          </a:p>
        </p:txBody>
      </p:sp>
      <p:pic>
        <p:nvPicPr>
          <p:cNvPr descr="image.png" id="382" name="Google Shape;38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2364" y="3194438"/>
            <a:ext cx="20288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5"/>
          <p:cNvSpPr txBox="1"/>
          <p:nvPr/>
        </p:nvSpPr>
        <p:spPr>
          <a:xfrm>
            <a:off x="6508194" y="3718313"/>
            <a:ext cx="202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API Flask (5000)</a:t>
            </a:r>
            <a:endParaRPr/>
          </a:p>
        </p:txBody>
      </p:sp>
      <p:pic>
        <p:nvPicPr>
          <p:cNvPr descr="image.png" id="384" name="Google Shape;38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72239" y="3194438"/>
            <a:ext cx="20288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5"/>
          <p:cNvSpPr txBox="1"/>
          <p:nvPr/>
        </p:nvSpPr>
        <p:spPr>
          <a:xfrm>
            <a:off x="9318069" y="3718313"/>
            <a:ext cx="202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Nginx Front (80)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6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6"/>
          <p:cNvSpPr txBox="1"/>
          <p:nvPr/>
        </p:nvSpPr>
        <p:spPr>
          <a:xfrm>
            <a:off x="809625" y="571500"/>
            <a:ext cx="104775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Resultados consolidados</a:t>
            </a:r>
            <a:endParaRPr b="1" sz="3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571500" y="1333500"/>
            <a:ext cx="11049000" cy="4857600"/>
          </a:xfrm>
          <a:prstGeom prst="roundRect">
            <a:avLst>
              <a:gd fmla="val 2884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571500" y="1905000"/>
            <a:ext cx="11049000" cy="19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6"/>
          <p:cNvSpPr txBox="1"/>
          <p:nvPr/>
        </p:nvSpPr>
        <p:spPr>
          <a:xfrm>
            <a:off x="809625" y="1476375"/>
            <a:ext cx="7143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rPr>
              <a:t>Métrica / KPI</a:t>
            </a:r>
            <a:endParaRPr b="1" sz="1600">
              <a:solidFill>
                <a:srgbClr val="00C853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8143875" y="1476375"/>
            <a:ext cx="3238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rPr>
              <a:t>Valor Obtenido</a:t>
            </a:r>
            <a:endParaRPr b="1" sz="1600">
              <a:solidFill>
                <a:srgbClr val="00C853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397" name="Google Shape;397;p26"/>
          <p:cNvGrpSpPr/>
          <p:nvPr/>
        </p:nvGrpSpPr>
        <p:grpSpPr>
          <a:xfrm>
            <a:off x="809625" y="2000250"/>
            <a:ext cx="10572900" cy="438225"/>
            <a:chOff x="809625" y="2000250"/>
            <a:chExt cx="10572900" cy="438225"/>
          </a:xfrm>
        </p:grpSpPr>
        <p:sp>
          <p:nvSpPr>
            <p:cNvPr id="398" name="Google Shape;398;p26"/>
            <p:cNvSpPr txBox="1"/>
            <p:nvPr/>
          </p:nvSpPr>
          <p:spPr>
            <a:xfrm>
              <a:off x="809625" y="2000250"/>
              <a:ext cx="7143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Total de observaciones procesadas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9" name="Google Shape;399;p26"/>
            <p:cNvSpPr txBox="1"/>
            <p:nvPr/>
          </p:nvSpPr>
          <p:spPr>
            <a:xfrm>
              <a:off x="8143875" y="200025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763.435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809625" y="2428875"/>
              <a:ext cx="10572900" cy="9600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26"/>
          <p:cNvGrpSpPr/>
          <p:nvPr/>
        </p:nvGrpSpPr>
        <p:grpSpPr>
          <a:xfrm>
            <a:off x="809625" y="2476500"/>
            <a:ext cx="10572900" cy="438225"/>
            <a:chOff x="809625" y="2476500"/>
            <a:chExt cx="10572900" cy="438225"/>
          </a:xfrm>
        </p:grpSpPr>
        <p:sp>
          <p:nvSpPr>
            <p:cNvPr id="402" name="Google Shape;402;p26"/>
            <p:cNvSpPr txBox="1"/>
            <p:nvPr/>
          </p:nvSpPr>
          <p:spPr>
            <a:xfrm>
              <a:off x="809625" y="2476500"/>
              <a:ext cx="7143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Catálogo de productos únicos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3" name="Google Shape;403;p26"/>
            <p:cNvSpPr txBox="1"/>
            <p:nvPr/>
          </p:nvSpPr>
          <p:spPr>
            <a:xfrm>
              <a:off x="8143875" y="24765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5.101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809625" y="2905125"/>
              <a:ext cx="10572900" cy="9600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5" name="Google Shape;405;p26"/>
          <p:cNvGrpSpPr/>
          <p:nvPr/>
        </p:nvGrpSpPr>
        <p:grpSpPr>
          <a:xfrm>
            <a:off x="809625" y="2952750"/>
            <a:ext cx="10572900" cy="438225"/>
            <a:chOff x="809625" y="2952750"/>
            <a:chExt cx="10572900" cy="438225"/>
          </a:xfrm>
        </p:grpSpPr>
        <p:sp>
          <p:nvSpPr>
            <p:cNvPr id="406" name="Google Shape;406;p26"/>
            <p:cNvSpPr txBox="1"/>
            <p:nvPr/>
          </p:nvSpPr>
          <p:spPr>
            <a:xfrm>
              <a:off x="809625" y="2952750"/>
              <a:ext cx="7143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Capacidad predictiva (AUC-ROC LSTM)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7" name="Google Shape;407;p26"/>
            <p:cNvSpPr txBox="1"/>
            <p:nvPr/>
          </p:nvSpPr>
          <p:spPr>
            <a:xfrm>
              <a:off x="8143875" y="295275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0,893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809625" y="3381375"/>
              <a:ext cx="10572900" cy="9600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9" name="Google Shape;409;p26"/>
          <p:cNvGrpSpPr/>
          <p:nvPr/>
        </p:nvGrpSpPr>
        <p:grpSpPr>
          <a:xfrm>
            <a:off x="809625" y="3429000"/>
            <a:ext cx="10572900" cy="438225"/>
            <a:chOff x="809625" y="3429000"/>
            <a:chExt cx="10572900" cy="438225"/>
          </a:xfrm>
        </p:grpSpPr>
        <p:sp>
          <p:nvSpPr>
            <p:cNvPr id="410" name="Google Shape;410;p26"/>
            <p:cNvSpPr txBox="1"/>
            <p:nvPr/>
          </p:nvSpPr>
          <p:spPr>
            <a:xfrm>
              <a:off x="809625" y="3429000"/>
              <a:ext cx="7143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Error predicción precios (MAPE XGBoost)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1" name="Google Shape;411;p26"/>
            <p:cNvSpPr txBox="1"/>
            <p:nvPr/>
          </p:nvSpPr>
          <p:spPr>
            <a:xfrm>
              <a:off x="8143875" y="34290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10,75%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809625" y="3857625"/>
              <a:ext cx="10572900" cy="9600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3" name="Google Shape;413;p26"/>
          <p:cNvGrpSpPr/>
          <p:nvPr/>
        </p:nvGrpSpPr>
        <p:grpSpPr>
          <a:xfrm>
            <a:off x="809625" y="3905250"/>
            <a:ext cx="10572900" cy="438225"/>
            <a:chOff x="809625" y="3905250"/>
            <a:chExt cx="10572900" cy="438225"/>
          </a:xfrm>
        </p:grpSpPr>
        <p:sp>
          <p:nvSpPr>
            <p:cNvPr id="414" name="Google Shape;414;p26"/>
            <p:cNvSpPr txBox="1"/>
            <p:nvPr/>
          </p:nvSpPr>
          <p:spPr>
            <a:xfrm>
              <a:off x="809625" y="3905250"/>
              <a:ext cx="7143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Similitud media NLP (MiniLM)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5" name="Google Shape;415;p26"/>
            <p:cNvSpPr txBox="1"/>
            <p:nvPr/>
          </p:nvSpPr>
          <p:spPr>
            <a:xfrm>
              <a:off x="8143875" y="390525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0,844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809625" y="4333875"/>
              <a:ext cx="10572900" cy="9600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26"/>
          <p:cNvGrpSpPr/>
          <p:nvPr/>
        </p:nvGrpSpPr>
        <p:grpSpPr>
          <a:xfrm>
            <a:off x="809625" y="5334000"/>
            <a:ext cx="10572900" cy="438225"/>
            <a:chOff x="809625" y="5334000"/>
            <a:chExt cx="10572900" cy="438225"/>
          </a:xfrm>
        </p:grpSpPr>
        <p:sp>
          <p:nvSpPr>
            <p:cNvPr id="418" name="Google Shape;418;p26"/>
            <p:cNvSpPr txBox="1"/>
            <p:nvPr/>
          </p:nvSpPr>
          <p:spPr>
            <a:xfrm>
              <a:off x="809625" y="5334000"/>
              <a:ext cx="7143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Optimización Docker (Frontend)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9" name="Google Shape;419;p26"/>
            <p:cNvSpPr txBox="1"/>
            <p:nvPr/>
          </p:nvSpPr>
          <p:spPr>
            <a:xfrm>
              <a:off x="8143875" y="53340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1GB → 30MB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809625" y="5762625"/>
              <a:ext cx="10572900" cy="9600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26"/>
          <p:cNvGrpSpPr/>
          <p:nvPr/>
        </p:nvGrpSpPr>
        <p:grpSpPr>
          <a:xfrm>
            <a:off x="809625" y="4381500"/>
            <a:ext cx="10572900" cy="438225"/>
            <a:chOff x="809625" y="4381500"/>
            <a:chExt cx="10572900" cy="438225"/>
          </a:xfrm>
        </p:grpSpPr>
        <p:sp>
          <p:nvSpPr>
            <p:cNvPr id="422" name="Google Shape;422;p26"/>
            <p:cNvSpPr txBox="1"/>
            <p:nvPr/>
          </p:nvSpPr>
          <p:spPr>
            <a:xfrm>
              <a:off x="809625" y="4381500"/>
              <a:ext cx="7143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Brecha marca comercial vs propia (NLP)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3" name="Google Shape;423;p26"/>
            <p:cNvSpPr txBox="1"/>
            <p:nvPr/>
          </p:nvSpPr>
          <p:spPr>
            <a:xfrm>
              <a:off x="8143875" y="43815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+49% mediana €/medida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4" name="Google Shape;424;p26"/>
            <p:cNvSpPr/>
            <p:nvPr/>
          </p:nvSpPr>
          <p:spPr>
            <a:xfrm>
              <a:off x="809625" y="4810125"/>
              <a:ext cx="10572900" cy="9600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5" name="Google Shape;425;p26"/>
          <p:cNvGrpSpPr/>
          <p:nvPr/>
        </p:nvGrpSpPr>
        <p:grpSpPr>
          <a:xfrm>
            <a:off x="809625" y="5810250"/>
            <a:ext cx="10572750" cy="381000"/>
            <a:chOff x="809625" y="5810250"/>
            <a:chExt cx="10572750" cy="381000"/>
          </a:xfrm>
        </p:grpSpPr>
        <p:sp>
          <p:nvSpPr>
            <p:cNvPr id="426" name="Google Shape;426;p26"/>
            <p:cNvSpPr txBox="1"/>
            <p:nvPr/>
          </p:nvSpPr>
          <p:spPr>
            <a:xfrm>
              <a:off x="809625" y="5810250"/>
              <a:ext cx="7143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Speedup procesamiento (Parquet)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7" name="Google Shape;427;p26"/>
            <p:cNvSpPr txBox="1"/>
            <p:nvPr/>
          </p:nvSpPr>
          <p:spPr>
            <a:xfrm>
              <a:off x="8143875" y="581025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26,7x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8" name="Google Shape;428;p26"/>
          <p:cNvGrpSpPr/>
          <p:nvPr/>
        </p:nvGrpSpPr>
        <p:grpSpPr>
          <a:xfrm>
            <a:off x="809625" y="4857750"/>
            <a:ext cx="10572900" cy="438225"/>
            <a:chOff x="809625" y="4857750"/>
            <a:chExt cx="10572900" cy="438225"/>
          </a:xfrm>
        </p:grpSpPr>
        <p:sp>
          <p:nvSpPr>
            <p:cNvPr id="429" name="Google Shape;429;p26"/>
            <p:cNvSpPr txBox="1"/>
            <p:nvPr/>
          </p:nvSpPr>
          <p:spPr>
            <a:xfrm>
              <a:off x="809625" y="4857750"/>
              <a:ext cx="7143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Complementariedad detectores (Jaccard)</a:t>
              </a:r>
              <a:endParaRPr b="0" sz="13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0" name="Google Shape;430;p26"/>
            <p:cNvSpPr txBox="1"/>
            <p:nvPr/>
          </p:nvSpPr>
          <p:spPr>
            <a:xfrm>
              <a:off x="8143875" y="485775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≈ 0 entre los 3 métodos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1" name="Google Shape;431;p26"/>
            <p:cNvSpPr/>
            <p:nvPr/>
          </p:nvSpPr>
          <p:spPr>
            <a:xfrm>
              <a:off x="809625" y="5286375"/>
              <a:ext cx="10572900" cy="9600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2" name="Google Shape;432;p26"/>
          <p:cNvSpPr txBox="1"/>
          <p:nvPr/>
        </p:nvSpPr>
        <p:spPr>
          <a:xfrm>
            <a:off x="8763000" y="62865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b="0"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7" name="Google Shape;43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7"/>
          <p:cNvSpPr txBox="1"/>
          <p:nvPr/>
        </p:nvSpPr>
        <p:spPr>
          <a:xfrm>
            <a:off x="2065496" y="571500"/>
            <a:ext cx="8061000" cy="894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13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Merca</a:t>
            </a:r>
            <a:r>
              <a:rPr b="1" i="0" lang="en-US" sz="5813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rPr>
              <a:t>Intelligence</a:t>
            </a:r>
            <a:endParaRPr b="1" i="0" sz="5813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9" name="Google Shape;439;p27"/>
          <p:cNvSpPr txBox="1"/>
          <p:nvPr/>
        </p:nvSpPr>
        <p:spPr>
          <a:xfrm>
            <a:off x="2947988" y="1524000"/>
            <a:ext cx="62961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De los datos crudos a la inteligencia de precios</a:t>
            </a:r>
            <a:endParaRPr b="0" i="0" sz="2200">
              <a:solidFill>
                <a:srgbClr val="DAFFD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40" name="Google Shape;440;p27"/>
          <p:cNvGrpSpPr/>
          <p:nvPr/>
        </p:nvGrpSpPr>
        <p:grpSpPr>
          <a:xfrm>
            <a:off x="2286000" y="2286000"/>
            <a:ext cx="7620000" cy="2286000"/>
            <a:chOff x="2286000" y="2286000"/>
            <a:chExt cx="7620000" cy="2286000"/>
          </a:xfrm>
        </p:grpSpPr>
        <p:sp>
          <p:nvSpPr>
            <p:cNvPr id="441" name="Google Shape;441;p27"/>
            <p:cNvSpPr/>
            <p:nvPr/>
          </p:nvSpPr>
          <p:spPr>
            <a:xfrm>
              <a:off x="2286000" y="2286000"/>
              <a:ext cx="7620000" cy="2286000"/>
            </a:xfrm>
            <a:prstGeom prst="roundRect">
              <a:avLst>
                <a:gd fmla="val 8333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7"/>
            <p:cNvSpPr txBox="1"/>
            <p:nvPr/>
          </p:nvSpPr>
          <p:spPr>
            <a:xfrm>
              <a:off x="2286000" y="2286000"/>
              <a:ext cx="7620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0">
                  <a:solidFill>
                    <a:srgbClr val="00C853"/>
                  </a:solidFill>
                  <a:latin typeface="Urbanist"/>
                  <a:ea typeface="Urbanist"/>
                  <a:cs typeface="Urbanist"/>
                  <a:sym typeface="Urbanist"/>
                </a:rPr>
                <a:t>¿Preguntas?</a:t>
              </a:r>
              <a:endParaRPr b="1" sz="6000">
                <a:solidFill>
                  <a:srgbClr val="00C853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DAFFDE"/>
                  </a:solidFill>
                  <a:latin typeface="Inter"/>
                  <a:ea typeface="Inter"/>
                  <a:cs typeface="Inter"/>
                  <a:sym typeface="Inter"/>
                </a:rPr>
                <a:t>Gracias por su atención</a:t>
              </a:r>
              <a:endParaRPr b="0" sz="18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43" name="Google Shape;443;p27"/>
          <p:cNvSpPr txBox="1"/>
          <p:nvPr/>
        </p:nvSpPr>
        <p:spPr>
          <a:xfrm>
            <a:off x="3557588" y="4953000"/>
            <a:ext cx="50769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Daniel Porras Morales</a:t>
            </a:r>
            <a:endParaRPr b="1" sz="18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27"/>
          <p:cNvSpPr txBox="1"/>
          <p:nvPr/>
        </p:nvSpPr>
        <p:spPr>
          <a:xfrm>
            <a:off x="3557588" y="5286375"/>
            <a:ext cx="5076900" cy="47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danielpm.dev@gmail.com</a:t>
            </a:r>
            <a:endParaRPr b="0" sz="1400">
              <a:solidFill>
                <a:srgbClr val="DAFF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C853"/>
                </a:solidFill>
                <a:latin typeface="Inter"/>
                <a:ea typeface="Inter"/>
                <a:cs typeface="Inter"/>
                <a:sym typeface="Inter"/>
              </a:rPr>
              <a:t>github.com/DanielPMdev</a:t>
            </a:r>
            <a:endParaRPr b="1" sz="1400">
              <a:solidFill>
                <a:srgbClr val="00C8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5" name="Google Shape;445;p27"/>
          <p:cNvSpPr txBox="1"/>
          <p:nvPr/>
        </p:nvSpPr>
        <p:spPr>
          <a:xfrm>
            <a:off x="8763000" y="62865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Daniel Porras Morales · TFE 2026</a:t>
            </a:r>
            <a:endParaRPr b="0"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