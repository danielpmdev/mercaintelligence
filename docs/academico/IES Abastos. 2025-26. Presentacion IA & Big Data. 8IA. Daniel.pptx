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2000"/>
  <p:notesSz cx="6858000" cy="9144000"/>
  <p:embeddedFontLst>
    <p:embeddedFont>
      <p:font typeface="Inter"/>
      <p:regular r:id="rId20"/>
      <p:bold r:id="rId21"/>
      <p:italic r:id="rId22"/>
      <p:boldItalic r:id="rId23"/>
    </p:embeddedFont>
    <p:embeddedFont>
      <p:font typeface="Urbanist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regular.fntdata"/><Relationship Id="rId22" Type="http://schemas.openxmlformats.org/officeDocument/2006/relationships/font" Target="fonts/Inter-italic.fntdata"/><Relationship Id="rId21" Type="http://schemas.openxmlformats.org/officeDocument/2006/relationships/font" Target="fonts/Inter-bold.fntdata"/><Relationship Id="rId24" Type="http://schemas.openxmlformats.org/officeDocument/2006/relationships/font" Target="fonts/Urbanist-regular.fntdata"/><Relationship Id="rId23" Type="http://schemas.openxmlformats.org/officeDocument/2006/relationships/font" Target="fonts/Inter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Urbanist-italic.fntdata"/><Relationship Id="rId25" Type="http://schemas.openxmlformats.org/officeDocument/2006/relationships/font" Target="fonts/Urbanist-bold.fntdata"/><Relationship Id="rId27" Type="http://schemas.openxmlformats.org/officeDocument/2006/relationships/font" Target="fonts/Urbanist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e47943360d_0_2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g3e47943360d_0_26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e47943360d_0_47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e47943360d_0_4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e47943360d_0_6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g3e47943360d_0_69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e47943360d_0_90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e47943360d_0_9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e47943360d_0_17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g3e47943360d_0_170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e47943360d_0_19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g3e47943360d_0_190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e47943360d_0_2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g3e47943360d_0_21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e47943360d_0_276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3e47943360d_0_27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e47943360d_0_25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g3e47943360d_0_255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e47943360d_28_0)">
  <p:cSld name="Generated (g3e47943360d_28_0)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4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image" Target="../media/image5.png"/><Relationship Id="rId10" Type="http://schemas.openxmlformats.org/officeDocument/2006/relationships/image" Target="../media/image16.png"/><Relationship Id="rId13" Type="http://schemas.openxmlformats.org/officeDocument/2006/relationships/image" Target="../media/image15.png"/><Relationship Id="rId1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4.png"/><Relationship Id="rId4" Type="http://schemas.openxmlformats.org/officeDocument/2006/relationships/image" Target="../media/image10.png"/><Relationship Id="rId9" Type="http://schemas.openxmlformats.org/officeDocument/2006/relationships/image" Target="../media/image6.png"/><Relationship Id="rId1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image" Target="../media/image2.png"/><Relationship Id="rId7" Type="http://schemas.openxmlformats.org/officeDocument/2006/relationships/image" Target="../media/image4.png"/><Relationship Id="rId8" Type="http://schemas.openxmlformats.org/officeDocument/2006/relationships/image" Target="../media/image1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6.png"/><Relationship Id="rId4" Type="http://schemas.openxmlformats.org/officeDocument/2006/relationships/image" Target="../media/image2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6.png"/><Relationship Id="rId4" Type="http://schemas.openxmlformats.org/officeDocument/2006/relationships/image" Target="../media/image2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3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4.png"/><Relationship Id="rId4" Type="http://schemas.openxmlformats.org/officeDocument/2006/relationships/image" Target="../media/image18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3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3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png"/><Relationship Id="rId4" Type="http://schemas.openxmlformats.org/officeDocument/2006/relationships/image" Target="../media/image19.png"/><Relationship Id="rId5" Type="http://schemas.openxmlformats.org/officeDocument/2006/relationships/image" Target="../media/image21.png"/><Relationship Id="rId6" Type="http://schemas.openxmlformats.org/officeDocument/2006/relationships/image" Target="../media/image20.png"/><Relationship Id="rId7" Type="http://schemas.openxmlformats.org/officeDocument/2006/relationships/image" Target="../media/image2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Relationship Id="rId4" Type="http://schemas.openxmlformats.org/officeDocument/2006/relationships/image" Target="../media/image2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5" name="Google Shape;8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119562"/>
            <a:ext cx="5057775" cy="86677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4"/>
          <p:cNvSpPr txBox="1"/>
          <p:nvPr/>
        </p:nvSpPr>
        <p:spPr>
          <a:xfrm>
            <a:off x="571500" y="1871662"/>
            <a:ext cx="6460807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Merca</a:t>
            </a:r>
            <a:r>
              <a:rPr b="1" i="0" lang="en-US" sz="6000" u="none" cap="none" strike="noStrike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rPr>
              <a:t>Intelligence</a:t>
            </a:r>
            <a:endParaRPr/>
          </a:p>
        </p:txBody>
      </p:sp>
      <p:sp>
        <p:nvSpPr>
          <p:cNvPr id="88" name="Google Shape;88;p14"/>
          <p:cNvSpPr txBox="1"/>
          <p:nvPr/>
        </p:nvSpPr>
        <p:spPr>
          <a:xfrm>
            <a:off x="571500" y="2824162"/>
            <a:ext cx="7620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Análisis, predicción y detección de anomalías de precios sobre el catálogo de Mercadona</a:t>
            </a:r>
            <a:endParaRPr/>
          </a:p>
        </p:txBody>
      </p:sp>
      <p:sp>
        <p:nvSpPr>
          <p:cNvPr id="89" name="Google Shape;89;p14"/>
          <p:cNvSpPr txBox="1"/>
          <p:nvPr/>
        </p:nvSpPr>
        <p:spPr>
          <a:xfrm>
            <a:off x="571500" y="4414837"/>
            <a:ext cx="50577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Daniel Porras Morales</a:t>
            </a:r>
            <a:endParaRPr/>
          </a:p>
        </p:txBody>
      </p:sp>
      <p:sp>
        <p:nvSpPr>
          <p:cNvPr id="90" name="Google Shape;90;p14"/>
          <p:cNvSpPr txBox="1"/>
          <p:nvPr/>
        </p:nvSpPr>
        <p:spPr>
          <a:xfrm>
            <a:off x="571500" y="4700587"/>
            <a:ext cx="50577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IES Abastos · Especialización IA &amp; Big Data · 2025-2026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117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5"/>
          <p:cNvGrpSpPr/>
          <p:nvPr/>
        </p:nvGrpSpPr>
        <p:grpSpPr>
          <a:xfrm>
            <a:off x="571500" y="1524000"/>
            <a:ext cx="3429000" cy="4191000"/>
            <a:chOff x="571500" y="1524000"/>
            <a:chExt cx="3429000" cy="4191000"/>
          </a:xfrm>
        </p:grpSpPr>
        <p:sp>
          <p:nvSpPr>
            <p:cNvPr id="97" name="Google Shape;97;p15"/>
            <p:cNvSpPr/>
            <p:nvPr/>
          </p:nvSpPr>
          <p:spPr>
            <a:xfrm>
              <a:off x="571500" y="152400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15"/>
            <p:cNvSpPr txBox="1"/>
            <p:nvPr/>
          </p:nvSpPr>
          <p:spPr>
            <a:xfrm>
              <a:off x="571500" y="1524000"/>
              <a:ext cx="3429000" cy="419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81000" lIns="381000" spcFirstLastPara="1" rIns="381000" wrap="square" tIns="3810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00C853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storage</a:t>
              </a:r>
              <a:endParaRPr sz="3200">
                <a:solidFill>
                  <a:srgbClr val="00C853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Volumen Ingente</a:t>
              </a:r>
              <a:endParaRPr b="1" sz="24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5.000+ productos diarios analizados. La detección manual de cambios es técnicamente inviable.</a:t>
              </a:r>
              <a:endParaRPr b="0" sz="14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99" name="Google Shape;99;p15"/>
          <p:cNvGrpSpPr/>
          <p:nvPr/>
        </p:nvGrpSpPr>
        <p:grpSpPr>
          <a:xfrm>
            <a:off x="4381500" y="1524000"/>
            <a:ext cx="3429000" cy="4191000"/>
            <a:chOff x="4381500" y="1524000"/>
            <a:chExt cx="3429000" cy="4191000"/>
          </a:xfrm>
        </p:grpSpPr>
        <p:sp>
          <p:nvSpPr>
            <p:cNvPr id="100" name="Google Shape;100;p15"/>
            <p:cNvSpPr/>
            <p:nvPr/>
          </p:nvSpPr>
          <p:spPr>
            <a:xfrm>
              <a:off x="4381500" y="152400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15"/>
            <p:cNvSpPr txBox="1"/>
            <p:nvPr/>
          </p:nvSpPr>
          <p:spPr>
            <a:xfrm>
              <a:off x="4381500" y="1524000"/>
              <a:ext cx="3429000" cy="419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81000" lIns="381000" spcFirstLastPara="1" rIns="381000" wrap="square" tIns="3810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00C853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compare_arrows</a:t>
              </a:r>
              <a:endParaRPr sz="3200">
                <a:solidFill>
                  <a:srgbClr val="00C853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Brecha de Marca</a:t>
              </a:r>
              <a:endParaRPr b="1" sz="24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¿Cuánto sobreprecio pagamos por la marca comercial frente a la marca blanca? Identificación del ahorro potencial.</a:t>
              </a:r>
              <a:endParaRPr b="0" sz="14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2" name="Google Shape;102;p15"/>
          <p:cNvGrpSpPr/>
          <p:nvPr/>
        </p:nvGrpSpPr>
        <p:grpSpPr>
          <a:xfrm>
            <a:off x="8191500" y="1524000"/>
            <a:ext cx="3429000" cy="4191000"/>
            <a:chOff x="8191500" y="1524000"/>
            <a:chExt cx="3429000" cy="4191000"/>
          </a:xfrm>
        </p:grpSpPr>
        <p:sp>
          <p:nvSpPr>
            <p:cNvPr id="103" name="Google Shape;103;p15"/>
            <p:cNvSpPr/>
            <p:nvPr/>
          </p:nvSpPr>
          <p:spPr>
            <a:xfrm>
              <a:off x="8191500" y="152400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5"/>
            <p:cNvSpPr txBox="1"/>
            <p:nvPr/>
          </p:nvSpPr>
          <p:spPr>
            <a:xfrm>
              <a:off x="8191500" y="1524000"/>
              <a:ext cx="3429000" cy="419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81000" lIns="381000" spcFirstLastPara="1" rIns="381000" wrap="square" tIns="3810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00C853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trending_up</a:t>
              </a:r>
              <a:endParaRPr sz="3200">
                <a:solidFill>
                  <a:srgbClr val="00C853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Incertidumbre</a:t>
              </a:r>
              <a:endParaRPr b="1" sz="24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Predicción de tendencias inflacionarias: ¿Cuándo y cuánto subirá el precio real de la cesta de la compra?</a:t>
              </a:r>
              <a:endParaRPr b="0" sz="14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05" name="Google Shape;105;p15"/>
          <p:cNvSpPr txBox="1"/>
          <p:nvPr/>
        </p:nvSpPr>
        <p:spPr>
          <a:xfrm>
            <a:off x="809625" y="5715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¿Qué problema resuelve?</a:t>
            </a:r>
            <a:endParaRPr/>
          </a:p>
        </p:txBody>
      </p:sp>
      <p:sp>
        <p:nvSpPr>
          <p:cNvPr id="106" name="Google Shape;106;p15"/>
          <p:cNvSpPr/>
          <p:nvPr/>
        </p:nvSpPr>
        <p:spPr>
          <a:xfrm>
            <a:off x="571500" y="571500"/>
            <a:ext cx="57300" cy="5526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5"/>
          <p:cNvSpPr txBox="1"/>
          <p:nvPr/>
        </p:nvSpPr>
        <p:spPr>
          <a:xfrm>
            <a:off x="9439275" y="6286500"/>
            <a:ext cx="2181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Daniel Porras Morales · TFE 2026</a:t>
            </a:r>
            <a:endParaRPr b="0" sz="110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117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2" name="Google Shape;11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3" name="Google Shape;113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5138737"/>
            <a:ext cx="11049000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966912"/>
            <a:ext cx="2055018" cy="2981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817018" y="1966912"/>
            <a:ext cx="2066925" cy="2981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074443" y="1966912"/>
            <a:ext cx="2055018" cy="2981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319962" y="1966912"/>
            <a:ext cx="2055018" cy="2981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565481" y="1966912"/>
            <a:ext cx="2055018" cy="298132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6"/>
          <p:cNvSpPr txBox="1"/>
          <p:nvPr/>
        </p:nvSpPr>
        <p:spPr>
          <a:xfrm>
            <a:off x="771525" y="5338762"/>
            <a:ext cx="106489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C853"/>
                </a:solidFill>
                <a:latin typeface="Inter"/>
                <a:ea typeface="Inter"/>
                <a:cs typeface="Inter"/>
                <a:sym typeface="Inter"/>
              </a:rPr>
              <a:t>Stack completo desplegado con Docker Compose · Un solo comando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866775" y="2862262"/>
            <a:ext cx="1537692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rPr>
              <a:t>GitHub Actions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866775" y="3795712"/>
            <a:ext cx="1464468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Scraper diario y orquestación con watchdog.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3112293" y="2862262"/>
            <a:ext cx="1550193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rPr>
              <a:t>ETL Incremental</a:t>
            </a:r>
            <a:endParaRPr/>
          </a:p>
        </p:txBody>
      </p:sp>
      <p:sp>
        <p:nvSpPr>
          <p:cNvPr id="123" name="Google Shape;123;p16"/>
          <p:cNvSpPr txBox="1"/>
          <p:nvPr/>
        </p:nvSpPr>
        <p:spPr>
          <a:xfrm>
            <a:off x="3112293" y="3795712"/>
            <a:ext cx="1476375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PyArrow para procesamiento eficiente.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5369718" y="2862262"/>
            <a:ext cx="1537692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rPr>
              <a:t>Data Lake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5369718" y="3471862"/>
            <a:ext cx="1464468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Parquet particionado e indexado en ES.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7615237" y="2862262"/>
            <a:ext cx="1537692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rPr>
              <a:t>ML &amp; DL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7615237" y="3471862"/>
            <a:ext cx="1464468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TensorFlow, XGBoost y NLP Transformers.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9860756" y="2862262"/>
            <a:ext cx="1537692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rPr>
              <a:t>API &amp; Front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9860756" y="3471862"/>
            <a:ext cx="1464468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Flask, Vue 3 y despliegue Docker.</a:t>
            </a:r>
            <a:endParaRPr/>
          </a:p>
        </p:txBody>
      </p:sp>
      <p:pic>
        <p:nvPicPr>
          <p:cNvPr descr="image.png" id="130" name="Google Shape;130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66775" y="2290762"/>
            <a:ext cx="3714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112293" y="2290762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369718" y="2290762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3" name="Google Shape;133;p1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615237" y="2290762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4" name="Google Shape;134;p16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9860756" y="2290762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6"/>
          <p:cNvSpPr txBox="1"/>
          <p:nvPr/>
        </p:nvSpPr>
        <p:spPr>
          <a:xfrm>
            <a:off x="809625" y="571500"/>
            <a:ext cx="11351418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Arquitectura del sistema</a:t>
            </a:r>
            <a:endParaRPr/>
          </a:p>
        </p:txBody>
      </p:sp>
      <p:sp>
        <p:nvSpPr>
          <p:cNvPr id="136" name="Google Shape;136;p16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 txBox="1"/>
          <p:nvPr/>
        </p:nvSpPr>
        <p:spPr>
          <a:xfrm>
            <a:off x="9439275" y="6286500"/>
            <a:ext cx="2181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Daniel Porras Morales · TFE 2026</a:t>
            </a:r>
            <a:endParaRPr b="0" sz="110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117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7"/>
          <p:cNvSpPr txBox="1"/>
          <p:nvPr/>
        </p:nvSpPr>
        <p:spPr>
          <a:xfrm>
            <a:off x="9439259" y="6289736"/>
            <a:ext cx="2181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Daniel Porras Morales · TFE 2026</a:t>
            </a:r>
            <a:endParaRPr b="0" sz="110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grpSp>
        <p:nvGrpSpPr>
          <p:cNvPr id="144" name="Google Shape;144;p17"/>
          <p:cNvGrpSpPr/>
          <p:nvPr/>
        </p:nvGrpSpPr>
        <p:grpSpPr>
          <a:xfrm>
            <a:off x="571500" y="1524000"/>
            <a:ext cx="11096625" cy="3238500"/>
            <a:chOff x="571500" y="1524000"/>
            <a:chExt cx="11096625" cy="3238500"/>
          </a:xfrm>
        </p:grpSpPr>
        <p:sp>
          <p:nvSpPr>
            <p:cNvPr id="145" name="Google Shape;145;p17"/>
            <p:cNvSpPr/>
            <p:nvPr/>
          </p:nvSpPr>
          <p:spPr>
            <a:xfrm>
              <a:off x="571500" y="1524000"/>
              <a:ext cx="2667000" cy="3238500"/>
            </a:xfrm>
            <a:prstGeom prst="roundRect">
              <a:avLst>
                <a:gd fmla="val 5714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17"/>
            <p:cNvSpPr txBox="1"/>
            <p:nvPr/>
          </p:nvSpPr>
          <p:spPr>
            <a:xfrm>
              <a:off x="571500" y="1524000"/>
              <a:ext cx="26670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00">
                  <a:solidFill>
                    <a:srgbClr val="00C853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analytics</a:t>
              </a:r>
              <a:endParaRPr sz="4000">
                <a:solidFill>
                  <a:srgbClr val="00C853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ctr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48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763k</a:t>
              </a:r>
              <a:endParaRPr b="1" sz="48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ctr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DAFFDE"/>
                  </a:solidFill>
                  <a:latin typeface="Urbanist"/>
                  <a:ea typeface="Urbanist"/>
                  <a:cs typeface="Urbanist"/>
                  <a:sym typeface="Urbanist"/>
                </a:rPr>
                <a:t>Observaciones</a:t>
              </a:r>
              <a:endParaRPr b="0" sz="16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147" name="Google Shape;147;p17"/>
            <p:cNvSpPr/>
            <p:nvPr/>
          </p:nvSpPr>
          <p:spPr>
            <a:xfrm>
              <a:off x="3381375" y="1524000"/>
              <a:ext cx="2667000" cy="3238500"/>
            </a:xfrm>
            <a:prstGeom prst="roundRect">
              <a:avLst>
                <a:gd fmla="val 5714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17"/>
            <p:cNvSpPr txBox="1"/>
            <p:nvPr/>
          </p:nvSpPr>
          <p:spPr>
            <a:xfrm>
              <a:off x="3381375" y="1524000"/>
              <a:ext cx="26670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00">
                  <a:solidFill>
                    <a:srgbClr val="00C853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inventory_2</a:t>
              </a:r>
              <a:endParaRPr sz="4000">
                <a:solidFill>
                  <a:srgbClr val="00C853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ctr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48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5.101</a:t>
              </a:r>
              <a:endParaRPr b="1" sz="48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ctr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DAFFDE"/>
                  </a:solidFill>
                  <a:latin typeface="Urbanist"/>
                  <a:ea typeface="Urbanist"/>
                  <a:cs typeface="Urbanist"/>
                  <a:sym typeface="Urbanist"/>
                </a:rPr>
                <a:t>Productos únicos</a:t>
              </a:r>
              <a:endParaRPr b="0" sz="16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149" name="Google Shape;149;p17"/>
            <p:cNvSpPr/>
            <p:nvPr/>
          </p:nvSpPr>
          <p:spPr>
            <a:xfrm>
              <a:off x="6191250" y="1524000"/>
              <a:ext cx="2667000" cy="3238500"/>
            </a:xfrm>
            <a:prstGeom prst="roundRect">
              <a:avLst>
                <a:gd fmla="val 5714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17"/>
            <p:cNvSpPr txBox="1"/>
            <p:nvPr/>
          </p:nvSpPr>
          <p:spPr>
            <a:xfrm>
              <a:off x="6191250" y="1524000"/>
              <a:ext cx="26670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00">
                  <a:solidFill>
                    <a:srgbClr val="00C853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calendar_month</a:t>
              </a:r>
              <a:endParaRPr sz="4000">
                <a:solidFill>
                  <a:srgbClr val="00C853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ctr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48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176</a:t>
              </a:r>
              <a:endParaRPr b="1" sz="48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ctr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DAFFDE"/>
                  </a:solidFill>
                  <a:latin typeface="Urbanist"/>
                  <a:ea typeface="Urbanist"/>
                  <a:cs typeface="Urbanist"/>
                  <a:sym typeface="Urbanist"/>
                </a:rPr>
                <a:t>Días (nov-25 → may-26)</a:t>
              </a:r>
              <a:endParaRPr b="0" sz="14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151" name="Google Shape;151;p17"/>
            <p:cNvSpPr/>
            <p:nvPr/>
          </p:nvSpPr>
          <p:spPr>
            <a:xfrm>
              <a:off x="9001125" y="1524000"/>
              <a:ext cx="2667000" cy="3238500"/>
            </a:xfrm>
            <a:prstGeom prst="roundRect">
              <a:avLst>
                <a:gd fmla="val 5714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17"/>
            <p:cNvSpPr txBox="1"/>
            <p:nvPr/>
          </p:nvSpPr>
          <p:spPr>
            <a:xfrm>
              <a:off x="9001125" y="1524000"/>
              <a:ext cx="26670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00">
                  <a:solidFill>
                    <a:srgbClr val="00C853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rocket_launch</a:t>
              </a:r>
              <a:endParaRPr sz="4000">
                <a:solidFill>
                  <a:srgbClr val="00C853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ctr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48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26.7x</a:t>
              </a:r>
              <a:endParaRPr b="1" sz="48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ctr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DAFFDE"/>
                  </a:solidFill>
                  <a:latin typeface="Urbanist"/>
                  <a:ea typeface="Urbanist"/>
                  <a:cs typeface="Urbanist"/>
                  <a:sym typeface="Urbanist"/>
                </a:rPr>
                <a:t>Speedup Parquet vs Monolítico</a:t>
              </a:r>
              <a:endParaRPr b="0" sz="14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</p:grpSp>
      <p:sp>
        <p:nvSpPr>
          <p:cNvPr id="153" name="Google Shape;153;p17"/>
          <p:cNvSpPr txBox="1"/>
          <p:nvPr/>
        </p:nvSpPr>
        <p:spPr>
          <a:xfrm>
            <a:off x="809625" y="5715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El dataset: 176 días de inteligencia</a:t>
            </a:r>
            <a:endParaRPr/>
          </a:p>
        </p:txBody>
      </p:sp>
      <p:sp>
        <p:nvSpPr>
          <p:cNvPr id="154" name="Google Shape;154;p17"/>
          <p:cNvSpPr/>
          <p:nvPr/>
        </p:nvSpPr>
        <p:spPr>
          <a:xfrm>
            <a:off x="571500" y="571500"/>
            <a:ext cx="57300" cy="5526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/>
          <p:cNvSpPr/>
          <p:nvPr/>
        </p:nvSpPr>
        <p:spPr>
          <a:xfrm>
            <a:off x="571500" y="571500"/>
            <a:ext cx="57300" cy="5526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8"/>
          <p:cNvSpPr txBox="1"/>
          <p:nvPr/>
        </p:nvSpPr>
        <p:spPr>
          <a:xfrm>
            <a:off x="809625" y="571500"/>
            <a:ext cx="105729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Detección de anomalías: 3 Dimensiones</a:t>
            </a:r>
            <a:endParaRPr b="1" sz="360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grpSp>
        <p:nvGrpSpPr>
          <p:cNvPr id="162" name="Google Shape;162;p18"/>
          <p:cNvGrpSpPr/>
          <p:nvPr/>
        </p:nvGrpSpPr>
        <p:grpSpPr>
          <a:xfrm>
            <a:off x="571500" y="1714500"/>
            <a:ext cx="3524400" cy="3429000"/>
            <a:chOff x="571500" y="1714500"/>
            <a:chExt cx="3524400" cy="3429000"/>
          </a:xfrm>
        </p:grpSpPr>
        <p:sp>
          <p:nvSpPr>
            <p:cNvPr id="163" name="Google Shape;163;p18"/>
            <p:cNvSpPr/>
            <p:nvPr/>
          </p:nvSpPr>
          <p:spPr>
            <a:xfrm>
              <a:off x="571500" y="1714500"/>
              <a:ext cx="3524400" cy="3429000"/>
            </a:xfrm>
            <a:prstGeom prst="roundRect">
              <a:avLst>
                <a:gd fmla="val 3333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18"/>
            <p:cNvSpPr/>
            <p:nvPr/>
          </p:nvSpPr>
          <p:spPr>
            <a:xfrm>
              <a:off x="714375" y="2714625"/>
              <a:ext cx="3238500" cy="19200"/>
            </a:xfrm>
            <a:prstGeom prst="rect">
              <a:avLst/>
            </a:prstGeom>
            <a:solidFill>
              <a:srgbClr val="00C85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18"/>
            <p:cNvSpPr/>
            <p:nvPr/>
          </p:nvSpPr>
          <p:spPr>
            <a:xfrm>
              <a:off x="714375" y="3305175"/>
              <a:ext cx="3238500" cy="9600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18"/>
            <p:cNvSpPr/>
            <p:nvPr/>
          </p:nvSpPr>
          <p:spPr>
            <a:xfrm>
              <a:off x="714375" y="3886200"/>
              <a:ext cx="3238500" cy="9600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p18"/>
            <p:cNvSpPr/>
            <p:nvPr/>
          </p:nvSpPr>
          <p:spPr>
            <a:xfrm>
              <a:off x="714375" y="4467225"/>
              <a:ext cx="3238500" cy="9600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18"/>
            <p:cNvSpPr txBox="1"/>
            <p:nvPr/>
          </p:nvSpPr>
          <p:spPr>
            <a:xfrm>
              <a:off x="714375" y="1857375"/>
              <a:ext cx="32385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C853"/>
                  </a:solidFill>
                  <a:latin typeface="Inter"/>
                  <a:ea typeface="Inter"/>
                  <a:cs typeface="Inter"/>
                  <a:sym typeface="Inter"/>
                </a:rPr>
                <a:t>Z-Score Rolling</a:t>
              </a:r>
              <a:endParaRPr b="1" sz="1500">
                <a:solidFill>
                  <a:srgbClr val="00C85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" name="Google Shape;169;p18"/>
            <p:cNvSpPr txBox="1"/>
            <p:nvPr/>
          </p:nvSpPr>
          <p:spPr>
            <a:xfrm>
              <a:off x="714375" y="2809875"/>
              <a:ext cx="3238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Estadístico Baseline</a:t>
              </a:r>
              <a:endParaRPr b="1" sz="14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0" name="Google Shape;170;p18"/>
            <p:cNvSpPr txBox="1"/>
            <p:nvPr/>
          </p:nvSpPr>
          <p:spPr>
            <a:xfrm>
              <a:off x="714375" y="3381375"/>
              <a:ext cx="3238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F5F5F5"/>
                  </a:solidFill>
                  <a:latin typeface="Inter"/>
                  <a:ea typeface="Inter"/>
                  <a:cs typeface="Inter"/>
                  <a:sym typeface="Inter"/>
                </a:rPr>
                <a:t>Temporal puntual</a:t>
              </a:r>
              <a:endParaRPr b="0" sz="13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" name="Google Shape;171;p18"/>
            <p:cNvSpPr txBox="1"/>
            <p:nvPr/>
          </p:nvSpPr>
          <p:spPr>
            <a:xfrm>
              <a:off x="714375" y="3952875"/>
              <a:ext cx="3238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F5F5F5"/>
                  </a:solidFill>
                  <a:latin typeface="Inter"/>
                  <a:ea typeface="Inter"/>
                  <a:cs typeface="Inter"/>
                  <a:sym typeface="Inter"/>
                </a:rPr>
                <a:t>3.813 alertas</a:t>
              </a:r>
              <a:endParaRPr b="0" sz="13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2" name="Google Shape;172;p18"/>
            <p:cNvSpPr txBox="1"/>
            <p:nvPr/>
          </p:nvSpPr>
          <p:spPr>
            <a:xfrm>
              <a:off x="714375" y="4524375"/>
              <a:ext cx="3238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1.683 productos</a:t>
              </a:r>
              <a:endParaRPr b="0" sz="13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3" name="Google Shape;173;p18"/>
          <p:cNvGrpSpPr/>
          <p:nvPr/>
        </p:nvGrpSpPr>
        <p:grpSpPr>
          <a:xfrm>
            <a:off x="4333875" y="1714500"/>
            <a:ext cx="3524400" cy="3429000"/>
            <a:chOff x="4333875" y="1714500"/>
            <a:chExt cx="3524400" cy="3429000"/>
          </a:xfrm>
        </p:grpSpPr>
        <p:sp>
          <p:nvSpPr>
            <p:cNvPr id="174" name="Google Shape;174;p18"/>
            <p:cNvSpPr/>
            <p:nvPr/>
          </p:nvSpPr>
          <p:spPr>
            <a:xfrm>
              <a:off x="4333875" y="1714500"/>
              <a:ext cx="3524400" cy="3429000"/>
            </a:xfrm>
            <a:prstGeom prst="roundRect">
              <a:avLst>
                <a:gd fmla="val 3333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18"/>
            <p:cNvSpPr/>
            <p:nvPr/>
          </p:nvSpPr>
          <p:spPr>
            <a:xfrm>
              <a:off x="4476750" y="2714625"/>
              <a:ext cx="3238500" cy="19200"/>
            </a:xfrm>
            <a:prstGeom prst="rect">
              <a:avLst/>
            </a:prstGeom>
            <a:solidFill>
              <a:srgbClr val="00C85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" name="Google Shape;176;p18"/>
            <p:cNvSpPr/>
            <p:nvPr/>
          </p:nvSpPr>
          <p:spPr>
            <a:xfrm>
              <a:off x="4476750" y="3305175"/>
              <a:ext cx="3238500" cy="9600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" name="Google Shape;177;p18"/>
            <p:cNvSpPr/>
            <p:nvPr/>
          </p:nvSpPr>
          <p:spPr>
            <a:xfrm>
              <a:off x="4476750" y="3886200"/>
              <a:ext cx="3238500" cy="9600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18"/>
            <p:cNvSpPr/>
            <p:nvPr/>
          </p:nvSpPr>
          <p:spPr>
            <a:xfrm>
              <a:off x="4476750" y="4467225"/>
              <a:ext cx="3238500" cy="9600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18"/>
            <p:cNvSpPr txBox="1"/>
            <p:nvPr/>
          </p:nvSpPr>
          <p:spPr>
            <a:xfrm>
              <a:off x="4476750" y="1857375"/>
              <a:ext cx="32385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C853"/>
                  </a:solidFill>
                  <a:latin typeface="Inter"/>
                  <a:ea typeface="Inter"/>
                  <a:cs typeface="Inter"/>
                  <a:sym typeface="Inter"/>
                </a:rPr>
                <a:t>Isolation Forest</a:t>
              </a:r>
              <a:endParaRPr b="1" sz="1500">
                <a:solidFill>
                  <a:srgbClr val="00C85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80" name="Google Shape;180;p18"/>
            <p:cNvSpPr txBox="1"/>
            <p:nvPr/>
          </p:nvSpPr>
          <p:spPr>
            <a:xfrm>
              <a:off x="4476750" y="2809875"/>
              <a:ext cx="3238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ML no supervisado</a:t>
              </a:r>
              <a:endParaRPr b="1" sz="14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81" name="Google Shape;181;p18"/>
            <p:cNvSpPr txBox="1"/>
            <p:nvPr/>
          </p:nvSpPr>
          <p:spPr>
            <a:xfrm>
              <a:off x="4476750" y="3381375"/>
              <a:ext cx="3238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F5F5F5"/>
                  </a:solidFill>
                  <a:latin typeface="Inter"/>
                  <a:ea typeface="Inter"/>
                  <a:cs typeface="Inter"/>
                  <a:sym typeface="Inter"/>
                </a:rPr>
                <a:t>Estructural multivariante</a:t>
              </a:r>
              <a:endParaRPr b="0" sz="13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82" name="Google Shape;182;p18"/>
            <p:cNvSpPr txBox="1"/>
            <p:nvPr/>
          </p:nvSpPr>
          <p:spPr>
            <a:xfrm>
              <a:off x="4476750" y="3952875"/>
              <a:ext cx="3238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F5F5F5"/>
                  </a:solidFill>
                  <a:latin typeface="Inter"/>
                  <a:ea typeface="Inter"/>
                  <a:cs typeface="Inter"/>
                  <a:sym typeface="Inter"/>
                </a:rPr>
                <a:t>3.818 alertas</a:t>
              </a:r>
              <a:endParaRPr b="0" sz="13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83" name="Google Shape;183;p18"/>
            <p:cNvSpPr txBox="1"/>
            <p:nvPr/>
          </p:nvSpPr>
          <p:spPr>
            <a:xfrm>
              <a:off x="4476750" y="4524375"/>
              <a:ext cx="3238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59 productos (Premium)</a:t>
              </a:r>
              <a:endParaRPr b="0" sz="13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84" name="Google Shape;184;p18"/>
          <p:cNvGrpSpPr/>
          <p:nvPr/>
        </p:nvGrpSpPr>
        <p:grpSpPr>
          <a:xfrm>
            <a:off x="8096250" y="1714500"/>
            <a:ext cx="3524400" cy="3429000"/>
            <a:chOff x="8096250" y="1714500"/>
            <a:chExt cx="3524400" cy="3429000"/>
          </a:xfrm>
        </p:grpSpPr>
        <p:sp>
          <p:nvSpPr>
            <p:cNvPr id="185" name="Google Shape;185;p18"/>
            <p:cNvSpPr/>
            <p:nvPr/>
          </p:nvSpPr>
          <p:spPr>
            <a:xfrm>
              <a:off x="8096250" y="1714500"/>
              <a:ext cx="3524400" cy="3429000"/>
            </a:xfrm>
            <a:prstGeom prst="roundRect">
              <a:avLst>
                <a:gd fmla="val 3333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18"/>
            <p:cNvSpPr/>
            <p:nvPr/>
          </p:nvSpPr>
          <p:spPr>
            <a:xfrm>
              <a:off x="8239125" y="2714625"/>
              <a:ext cx="3238500" cy="19200"/>
            </a:xfrm>
            <a:prstGeom prst="rect">
              <a:avLst/>
            </a:prstGeom>
            <a:solidFill>
              <a:srgbClr val="00C85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" name="Google Shape;187;p18"/>
            <p:cNvSpPr/>
            <p:nvPr/>
          </p:nvSpPr>
          <p:spPr>
            <a:xfrm>
              <a:off x="8239125" y="3305175"/>
              <a:ext cx="3238500" cy="9600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18"/>
            <p:cNvSpPr/>
            <p:nvPr/>
          </p:nvSpPr>
          <p:spPr>
            <a:xfrm>
              <a:off x="8239125" y="3886200"/>
              <a:ext cx="3238500" cy="9600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18"/>
            <p:cNvSpPr/>
            <p:nvPr/>
          </p:nvSpPr>
          <p:spPr>
            <a:xfrm>
              <a:off x="8239125" y="4467225"/>
              <a:ext cx="3238500" cy="9600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18"/>
            <p:cNvSpPr txBox="1"/>
            <p:nvPr/>
          </p:nvSpPr>
          <p:spPr>
            <a:xfrm>
              <a:off x="8239125" y="1857375"/>
              <a:ext cx="32385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C853"/>
                  </a:solidFill>
                  <a:latin typeface="Inter"/>
                  <a:ea typeface="Inter"/>
                  <a:cs typeface="Inter"/>
                  <a:sym typeface="Inter"/>
                </a:rPr>
                <a:t>Autoencoder LSTM</a:t>
              </a:r>
              <a:endParaRPr b="1" sz="1500">
                <a:solidFill>
                  <a:srgbClr val="00C85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91" name="Google Shape;191;p18"/>
            <p:cNvSpPr txBox="1"/>
            <p:nvPr/>
          </p:nvSpPr>
          <p:spPr>
            <a:xfrm>
              <a:off x="8239125" y="2809875"/>
              <a:ext cx="3238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Deep Learning</a:t>
              </a:r>
              <a:endParaRPr b="1" sz="14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92" name="Google Shape;192;p18"/>
            <p:cNvSpPr txBox="1"/>
            <p:nvPr/>
          </p:nvSpPr>
          <p:spPr>
            <a:xfrm>
              <a:off x="8239125" y="3381375"/>
              <a:ext cx="3238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F5F5F5"/>
                  </a:solidFill>
                  <a:latin typeface="Inter"/>
                  <a:ea typeface="Inter"/>
                  <a:cs typeface="Inter"/>
                  <a:sym typeface="Inter"/>
                </a:rPr>
                <a:t>Secuencial</a:t>
              </a:r>
              <a:endParaRPr b="0" sz="13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93" name="Google Shape;193;p18"/>
            <p:cNvSpPr txBox="1"/>
            <p:nvPr/>
          </p:nvSpPr>
          <p:spPr>
            <a:xfrm>
              <a:off x="8239125" y="3952875"/>
              <a:ext cx="3238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F5F5F5"/>
                  </a:solidFill>
                  <a:latin typeface="Inter"/>
                  <a:ea typeface="Inter"/>
                  <a:cs typeface="Inter"/>
                  <a:sym typeface="Inter"/>
                </a:rPr>
                <a:t>6.929 alertas</a:t>
              </a:r>
              <a:endParaRPr b="0" sz="13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94" name="Google Shape;194;p18"/>
            <p:cNvSpPr txBox="1"/>
            <p:nvPr/>
          </p:nvSpPr>
          <p:spPr>
            <a:xfrm>
              <a:off x="8239125" y="4524375"/>
              <a:ext cx="32385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1.3</a:t>
              </a:r>
              <a:r>
                <a:rPr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0</a:t>
              </a:r>
              <a:r>
                <a:rPr b="0"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0 productos</a:t>
              </a:r>
              <a:endParaRPr b="0" sz="13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95" name="Google Shape;195;p18"/>
          <p:cNvSpPr txBox="1"/>
          <p:nvPr/>
        </p:nvSpPr>
        <p:spPr>
          <a:xfrm>
            <a:off x="571500" y="5524500"/>
            <a:ext cx="11049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0C853"/>
                </a:solidFill>
                <a:latin typeface="Inter"/>
                <a:ea typeface="Inter"/>
                <a:cs typeface="Inter"/>
                <a:sym typeface="Inter"/>
              </a:rPr>
              <a:t>Jaccard entre métodos ≈ 0 → Complementariedad total</a:t>
            </a:r>
            <a:endParaRPr b="1" sz="1500">
              <a:solidFill>
                <a:srgbClr val="00C85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18"/>
          <p:cNvSpPr txBox="1"/>
          <p:nvPr/>
        </p:nvSpPr>
        <p:spPr>
          <a:xfrm>
            <a:off x="9439275" y="6286500"/>
            <a:ext cx="2181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Daniel Porras Morales · TFE 2026</a:t>
            </a:r>
            <a:endParaRPr b="0" sz="110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2" name="Google Shape;202;p19"/>
          <p:cNvGrpSpPr/>
          <p:nvPr/>
        </p:nvGrpSpPr>
        <p:grpSpPr>
          <a:xfrm>
            <a:off x="571500" y="571500"/>
            <a:ext cx="10811025" cy="552600"/>
            <a:chOff x="571500" y="571500"/>
            <a:chExt cx="10811025" cy="552600"/>
          </a:xfrm>
        </p:grpSpPr>
        <p:sp>
          <p:nvSpPr>
            <p:cNvPr id="203" name="Google Shape;203;p19"/>
            <p:cNvSpPr/>
            <p:nvPr/>
          </p:nvSpPr>
          <p:spPr>
            <a:xfrm>
              <a:off x="571500" y="571500"/>
              <a:ext cx="57300" cy="552600"/>
            </a:xfrm>
            <a:prstGeom prst="rect">
              <a:avLst/>
            </a:prstGeom>
            <a:solidFill>
              <a:srgbClr val="00C85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" name="Google Shape;204;p19"/>
            <p:cNvSpPr txBox="1"/>
            <p:nvPr/>
          </p:nvSpPr>
          <p:spPr>
            <a:xfrm>
              <a:off x="809625" y="571500"/>
              <a:ext cx="105729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60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Predicción: ¿Cuándo y cuánto cambia?</a:t>
              </a:r>
              <a:endParaRPr b="1" sz="36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</p:grpSp>
      <p:grpSp>
        <p:nvGrpSpPr>
          <p:cNvPr id="205" name="Google Shape;205;p19"/>
          <p:cNvGrpSpPr/>
          <p:nvPr/>
        </p:nvGrpSpPr>
        <p:grpSpPr>
          <a:xfrm>
            <a:off x="571500" y="1524000"/>
            <a:ext cx="5334000" cy="3048000"/>
            <a:chOff x="571500" y="1524000"/>
            <a:chExt cx="5334000" cy="3048000"/>
          </a:xfrm>
        </p:grpSpPr>
        <p:sp>
          <p:nvSpPr>
            <p:cNvPr id="206" name="Google Shape;206;p19"/>
            <p:cNvSpPr/>
            <p:nvPr/>
          </p:nvSpPr>
          <p:spPr>
            <a:xfrm>
              <a:off x="571500" y="1524000"/>
              <a:ext cx="5334000" cy="3048000"/>
            </a:xfrm>
            <a:prstGeom prst="roundRect">
              <a:avLst>
                <a:gd fmla="val 5000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" name="Google Shape;207;p19"/>
            <p:cNvSpPr txBox="1"/>
            <p:nvPr/>
          </p:nvSpPr>
          <p:spPr>
            <a:xfrm>
              <a:off x="857250" y="1809750"/>
              <a:ext cx="4762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LSTM Clasificador</a:t>
              </a:r>
              <a:endParaRPr b="1" sz="24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208" name="Google Shape;208;p19"/>
            <p:cNvSpPr txBox="1"/>
            <p:nvPr/>
          </p:nvSpPr>
          <p:spPr>
            <a:xfrm>
              <a:off x="857250" y="2286000"/>
              <a:ext cx="476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¿Habrá cambio?</a:t>
              </a:r>
              <a:endParaRPr b="1" sz="15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09" name="Google Shape;209;p19"/>
            <p:cNvSpPr/>
            <p:nvPr/>
          </p:nvSpPr>
          <p:spPr>
            <a:xfrm>
              <a:off x="857250" y="2667000"/>
              <a:ext cx="4191000" cy="19200"/>
            </a:xfrm>
            <a:prstGeom prst="rect">
              <a:avLst/>
            </a:prstGeom>
            <a:solidFill>
              <a:srgbClr val="00C853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" name="Google Shape;210;p19"/>
            <p:cNvSpPr txBox="1"/>
            <p:nvPr/>
          </p:nvSpPr>
          <p:spPr>
            <a:xfrm>
              <a:off x="857250" y="2857500"/>
              <a:ext cx="4762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8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0,893</a:t>
              </a:r>
              <a:endParaRPr b="1" sz="48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211" name="Google Shape;211;p19"/>
            <p:cNvSpPr txBox="1"/>
            <p:nvPr/>
          </p:nvSpPr>
          <p:spPr>
            <a:xfrm>
              <a:off x="857250" y="3667125"/>
              <a:ext cx="476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AUC-ROC</a:t>
              </a:r>
              <a:endParaRPr b="0" sz="14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8899A6"/>
                  </a:solidFill>
                  <a:latin typeface="Inter"/>
                  <a:ea typeface="Inter"/>
                  <a:cs typeface="Inter"/>
                  <a:sym typeface="Inter"/>
                </a:rPr>
                <a:t>vs 0,771 baseline</a:t>
              </a:r>
              <a:endParaRPr b="0" sz="1400">
                <a:solidFill>
                  <a:srgbClr val="8899A6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12" name="Google Shape;212;p19"/>
          <p:cNvGrpSpPr/>
          <p:nvPr/>
        </p:nvGrpSpPr>
        <p:grpSpPr>
          <a:xfrm>
            <a:off x="6286500" y="1524000"/>
            <a:ext cx="5334000" cy="3048000"/>
            <a:chOff x="6286500" y="1524000"/>
            <a:chExt cx="5334000" cy="3048000"/>
          </a:xfrm>
        </p:grpSpPr>
        <p:sp>
          <p:nvSpPr>
            <p:cNvPr id="213" name="Google Shape;213;p19"/>
            <p:cNvSpPr/>
            <p:nvPr/>
          </p:nvSpPr>
          <p:spPr>
            <a:xfrm>
              <a:off x="6286500" y="1524000"/>
              <a:ext cx="5334000" cy="3048000"/>
            </a:xfrm>
            <a:prstGeom prst="roundRect">
              <a:avLst>
                <a:gd fmla="val 5000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" name="Google Shape;214;p19"/>
            <p:cNvSpPr txBox="1"/>
            <p:nvPr/>
          </p:nvSpPr>
          <p:spPr>
            <a:xfrm>
              <a:off x="6572250" y="1809750"/>
              <a:ext cx="4762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XGBoost Regresor</a:t>
              </a:r>
              <a:endParaRPr b="1" sz="24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215" name="Google Shape;215;p19"/>
            <p:cNvSpPr txBox="1"/>
            <p:nvPr/>
          </p:nvSpPr>
          <p:spPr>
            <a:xfrm>
              <a:off x="6572250" y="2286000"/>
              <a:ext cx="476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¿Cuánto costará?</a:t>
              </a:r>
              <a:endParaRPr b="1" sz="15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6572250" y="2667000"/>
              <a:ext cx="4191000" cy="19200"/>
            </a:xfrm>
            <a:prstGeom prst="rect">
              <a:avLst/>
            </a:prstGeom>
            <a:solidFill>
              <a:srgbClr val="00C853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19"/>
            <p:cNvSpPr txBox="1"/>
            <p:nvPr/>
          </p:nvSpPr>
          <p:spPr>
            <a:xfrm>
              <a:off x="6572250" y="2857500"/>
              <a:ext cx="4762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8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10,75%</a:t>
              </a:r>
              <a:endParaRPr b="1" sz="48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218" name="Google Shape;218;p19"/>
            <p:cNvSpPr txBox="1"/>
            <p:nvPr/>
          </p:nvSpPr>
          <p:spPr>
            <a:xfrm>
              <a:off x="6572250" y="3667125"/>
              <a:ext cx="476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MAPE</a:t>
              </a:r>
              <a:endParaRPr b="0" sz="14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8899A6"/>
                  </a:solidFill>
                  <a:latin typeface="Inter"/>
                  <a:ea typeface="Inter"/>
                  <a:cs typeface="Inter"/>
                  <a:sym typeface="Inter"/>
                </a:rPr>
                <a:t>en cambios reales</a:t>
              </a:r>
              <a:endParaRPr b="0" sz="1400">
                <a:solidFill>
                  <a:srgbClr val="8899A6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219" name="Google Shape;219;p19"/>
          <p:cNvSpPr txBox="1"/>
          <p:nvPr/>
        </p:nvSpPr>
        <p:spPr>
          <a:xfrm>
            <a:off x="9439275" y="6286500"/>
            <a:ext cx="2181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Daniel Porras Morales · TFE 2026</a:t>
            </a:r>
            <a:endParaRPr b="0" sz="110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0" name="Google Shape;220;p19"/>
          <p:cNvSpPr txBox="1"/>
          <p:nvPr/>
        </p:nvSpPr>
        <p:spPr>
          <a:xfrm>
            <a:off x="809625" y="5715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Predicción: ¿Cuándo y cuánto cambia?</a:t>
            </a:r>
            <a:endParaRPr/>
          </a:p>
        </p:txBody>
      </p:sp>
      <p:pic>
        <p:nvPicPr>
          <p:cNvPr descr="image.png" id="221" name="Google Shape;221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4970412"/>
            <a:ext cx="11049000" cy="981075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9"/>
          <p:cNvSpPr txBox="1"/>
          <p:nvPr/>
        </p:nvSpPr>
        <p:spPr>
          <a:xfrm>
            <a:off x="771525" y="5170437"/>
            <a:ext cx="106491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C853"/>
                </a:solidFill>
                <a:latin typeface="Inter"/>
                <a:ea typeface="Inter"/>
                <a:cs typeface="Inter"/>
                <a:sym typeface="Inter"/>
              </a:rPr>
              <a:t>Integración:</a:t>
            </a: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500" u="none" cap="none" strike="noStrike">
                <a:solidFill>
                  <a:srgbClr val="00C853"/>
                </a:solidFill>
                <a:latin typeface="Inter"/>
                <a:ea typeface="Inter"/>
                <a:cs typeface="Inter"/>
                <a:sym typeface="Inter"/>
              </a:rPr>
              <a:t>prob_cambio_lstm</a:t>
            </a: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 aparece en el </a:t>
            </a:r>
            <a:r>
              <a:rPr b="1" i="0" lang="en-US" sz="1500" u="none" cap="none" strike="noStrike">
                <a:solidFill>
                  <a:srgbClr val="00C853"/>
                </a:solidFill>
                <a:latin typeface="Inter"/>
                <a:ea typeface="Inter"/>
                <a:cs typeface="Inter"/>
                <a:sym typeface="Inter"/>
              </a:rPr>
              <a:t>TOP 11</a:t>
            </a: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 de importancia SHAP del XGBoost. Validación cruzada emergente entre modelos.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0"/>
          <p:cNvSpPr/>
          <p:nvPr/>
        </p:nvSpPr>
        <p:spPr>
          <a:xfrm>
            <a:off x="571500" y="571500"/>
            <a:ext cx="57300" cy="5526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20"/>
          <p:cNvSpPr txBox="1"/>
          <p:nvPr/>
        </p:nvSpPr>
        <p:spPr>
          <a:xfrm>
            <a:off x="809625" y="571500"/>
            <a:ext cx="105729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NLP: Análisis de equivalencias</a:t>
            </a:r>
            <a:endParaRPr b="1" sz="360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32" name="Google Shape;232;p20"/>
          <p:cNvSpPr txBox="1"/>
          <p:nvPr/>
        </p:nvSpPr>
        <p:spPr>
          <a:xfrm>
            <a:off x="571500" y="1828800"/>
            <a:ext cx="110490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rPr>
              <a:t>La marca comercial es un </a:t>
            </a:r>
            <a:r>
              <a:rPr b="1" lang="en-US" sz="2400">
                <a:solidFill>
                  <a:srgbClr val="00C853"/>
                </a:solidFill>
                <a:latin typeface="Inter"/>
                <a:ea typeface="Inter"/>
                <a:cs typeface="Inter"/>
                <a:sym typeface="Inter"/>
              </a:rPr>
              <a:t>49%</a:t>
            </a:r>
            <a:r>
              <a:rPr b="0" lang="en-US" sz="24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rPr>
              <a:t> más cara</a:t>
            </a:r>
            <a:endParaRPr b="0" sz="2400">
              <a:solidFill>
                <a:srgbClr val="F5F5F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20"/>
          <p:cNvSpPr txBox="1"/>
          <p:nvPr/>
        </p:nvSpPr>
        <p:spPr>
          <a:xfrm>
            <a:off x="571500" y="2543175"/>
            <a:ext cx="11049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por unidad de medida que el equivalente de marca propia</a:t>
            </a:r>
            <a:endParaRPr b="0" sz="1500">
              <a:solidFill>
                <a:srgbClr val="DAFFD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234" name="Google Shape;234;p20"/>
          <p:cNvGrpSpPr/>
          <p:nvPr/>
        </p:nvGrpSpPr>
        <p:grpSpPr>
          <a:xfrm>
            <a:off x="571500" y="3333750"/>
            <a:ext cx="11049000" cy="2381400"/>
            <a:chOff x="571500" y="3333750"/>
            <a:chExt cx="11049000" cy="2381400"/>
          </a:xfrm>
        </p:grpSpPr>
        <p:sp>
          <p:nvSpPr>
            <p:cNvPr id="235" name="Google Shape;235;p20"/>
            <p:cNvSpPr/>
            <p:nvPr/>
          </p:nvSpPr>
          <p:spPr>
            <a:xfrm>
              <a:off x="571500" y="3333750"/>
              <a:ext cx="11049000" cy="2381400"/>
            </a:xfrm>
            <a:prstGeom prst="roundRect">
              <a:avLst>
                <a:gd fmla="val 4800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" name="Google Shape;236;p20"/>
            <p:cNvSpPr/>
            <p:nvPr/>
          </p:nvSpPr>
          <p:spPr>
            <a:xfrm>
              <a:off x="809625" y="3857625"/>
              <a:ext cx="10572900" cy="19200"/>
            </a:xfrm>
            <a:prstGeom prst="rect">
              <a:avLst/>
            </a:prstGeom>
            <a:solidFill>
              <a:srgbClr val="00C85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20"/>
            <p:cNvSpPr txBox="1"/>
            <p:nvPr/>
          </p:nvSpPr>
          <p:spPr>
            <a:xfrm>
              <a:off x="952500" y="3476625"/>
              <a:ext cx="2381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0C853"/>
                  </a:solidFill>
                  <a:latin typeface="Inter"/>
                  <a:ea typeface="Inter"/>
                  <a:cs typeface="Inter"/>
                  <a:sym typeface="Inter"/>
                </a:rPr>
                <a:t>Hacendado</a:t>
              </a:r>
              <a:endParaRPr b="1" sz="1300">
                <a:solidFill>
                  <a:srgbClr val="00C85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38" name="Google Shape;238;p20"/>
            <p:cNvSpPr txBox="1"/>
            <p:nvPr/>
          </p:nvSpPr>
          <p:spPr>
            <a:xfrm>
              <a:off x="3810000" y="3476625"/>
              <a:ext cx="2857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0C853"/>
                  </a:solidFill>
                  <a:latin typeface="Inter"/>
                  <a:ea typeface="Inter"/>
                  <a:cs typeface="Inter"/>
                  <a:sym typeface="Inter"/>
                </a:rPr>
                <a:t>Equivalente comercial</a:t>
              </a:r>
              <a:endParaRPr b="1" sz="1300">
                <a:solidFill>
                  <a:srgbClr val="00C85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39" name="Google Shape;239;p20"/>
            <p:cNvSpPr txBox="1"/>
            <p:nvPr/>
          </p:nvSpPr>
          <p:spPr>
            <a:xfrm>
              <a:off x="7143750" y="3476625"/>
              <a:ext cx="1428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0C853"/>
                  </a:solidFill>
                  <a:latin typeface="Inter"/>
                  <a:ea typeface="Inter"/>
                  <a:cs typeface="Inter"/>
                  <a:sym typeface="Inter"/>
                </a:rPr>
                <a:t>Similitud</a:t>
              </a:r>
              <a:endParaRPr b="1" sz="1300">
                <a:solidFill>
                  <a:srgbClr val="00C85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40" name="Google Shape;240;p20"/>
            <p:cNvSpPr txBox="1"/>
            <p:nvPr/>
          </p:nvSpPr>
          <p:spPr>
            <a:xfrm>
              <a:off x="9048750" y="3476625"/>
              <a:ext cx="1905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0C853"/>
                  </a:solidFill>
                  <a:latin typeface="Inter"/>
                  <a:ea typeface="Inter"/>
                  <a:cs typeface="Inter"/>
                  <a:sym typeface="Inter"/>
                </a:rPr>
                <a:t>Brecha de precio</a:t>
              </a:r>
              <a:endParaRPr b="1" sz="1300">
                <a:solidFill>
                  <a:srgbClr val="00C85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41" name="Google Shape;241;p20"/>
            <p:cNvSpPr/>
            <p:nvPr/>
          </p:nvSpPr>
          <p:spPr>
            <a:xfrm>
              <a:off x="809625" y="4333875"/>
              <a:ext cx="10572900" cy="9600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20"/>
            <p:cNvSpPr txBox="1"/>
            <p:nvPr/>
          </p:nvSpPr>
          <p:spPr>
            <a:xfrm>
              <a:off x="952500" y="3952875"/>
              <a:ext cx="2381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Crema cacao</a:t>
              </a:r>
              <a:endParaRPr b="0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43" name="Google Shape;243;p20"/>
            <p:cNvSpPr txBox="1"/>
            <p:nvPr/>
          </p:nvSpPr>
          <p:spPr>
            <a:xfrm>
              <a:off x="3810000" y="3952875"/>
              <a:ext cx="2857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Nutella</a:t>
              </a:r>
              <a:endParaRPr b="0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44" name="Google Shape;244;p20"/>
            <p:cNvSpPr txBox="1"/>
            <p:nvPr/>
          </p:nvSpPr>
          <p:spPr>
            <a:xfrm>
              <a:off x="7143750" y="3952875"/>
              <a:ext cx="1428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98,5%</a:t>
              </a:r>
              <a:endParaRPr b="0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45" name="Google Shape;245;p20"/>
            <p:cNvSpPr txBox="1"/>
            <p:nvPr/>
          </p:nvSpPr>
          <p:spPr>
            <a:xfrm>
              <a:off x="9048750" y="3952875"/>
              <a:ext cx="1905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EE2B2B"/>
                  </a:solidFill>
                  <a:latin typeface="Inter"/>
                  <a:ea typeface="Inter"/>
                  <a:cs typeface="Inter"/>
                  <a:sym typeface="Inter"/>
                </a:rPr>
                <a:t>+193%</a:t>
              </a:r>
              <a:endParaRPr b="1" sz="1100">
                <a:solidFill>
                  <a:srgbClr val="EE2B2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46" name="Google Shape;246;p20"/>
            <p:cNvSpPr/>
            <p:nvPr/>
          </p:nvSpPr>
          <p:spPr>
            <a:xfrm>
              <a:off x="809625" y="4810125"/>
              <a:ext cx="10572900" cy="9600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20"/>
            <p:cNvSpPr txBox="1"/>
            <p:nvPr/>
          </p:nvSpPr>
          <p:spPr>
            <a:xfrm>
              <a:off x="952500" y="4429125"/>
              <a:ext cx="2381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Arroz redondo</a:t>
              </a:r>
              <a:endParaRPr b="0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48" name="Google Shape;248;p20"/>
            <p:cNvSpPr txBox="1"/>
            <p:nvPr/>
          </p:nvSpPr>
          <p:spPr>
            <a:xfrm>
              <a:off x="3810000" y="4429125"/>
              <a:ext cx="2857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La Fallera</a:t>
              </a:r>
              <a:endParaRPr b="0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49" name="Google Shape;249;p20"/>
            <p:cNvSpPr txBox="1"/>
            <p:nvPr/>
          </p:nvSpPr>
          <p:spPr>
            <a:xfrm>
              <a:off x="7143750" y="4429125"/>
              <a:ext cx="1428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95,4%</a:t>
              </a:r>
              <a:endParaRPr b="0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0" name="Google Shape;250;p20"/>
            <p:cNvSpPr txBox="1"/>
            <p:nvPr/>
          </p:nvSpPr>
          <p:spPr>
            <a:xfrm>
              <a:off x="9048750" y="4429125"/>
              <a:ext cx="1905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EE2B2B"/>
                  </a:solidFill>
                  <a:latin typeface="Inter"/>
                  <a:ea typeface="Inter"/>
                  <a:cs typeface="Inter"/>
                  <a:sym typeface="Inter"/>
                </a:rPr>
                <a:t>+41%</a:t>
              </a:r>
              <a:endParaRPr b="1" sz="1100">
                <a:solidFill>
                  <a:srgbClr val="EE2B2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1" name="Google Shape;251;p20"/>
            <p:cNvSpPr/>
            <p:nvPr/>
          </p:nvSpPr>
          <p:spPr>
            <a:xfrm>
              <a:off x="809625" y="5286375"/>
              <a:ext cx="10572900" cy="9600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20"/>
            <p:cNvSpPr txBox="1"/>
            <p:nvPr/>
          </p:nvSpPr>
          <p:spPr>
            <a:xfrm>
              <a:off x="952500" y="4905375"/>
              <a:ext cx="2381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Batido chocolate</a:t>
              </a:r>
              <a:endParaRPr b="0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3" name="Google Shape;253;p20"/>
            <p:cNvSpPr txBox="1"/>
            <p:nvPr/>
          </p:nvSpPr>
          <p:spPr>
            <a:xfrm>
              <a:off x="3810000" y="4905375"/>
              <a:ext cx="2857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Puleva</a:t>
              </a:r>
              <a:endParaRPr b="0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4" name="Google Shape;254;p20"/>
            <p:cNvSpPr txBox="1"/>
            <p:nvPr/>
          </p:nvSpPr>
          <p:spPr>
            <a:xfrm>
              <a:off x="7143750" y="4905375"/>
              <a:ext cx="1428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99,3%</a:t>
              </a:r>
              <a:endParaRPr b="0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5" name="Google Shape;255;p20"/>
            <p:cNvSpPr txBox="1"/>
            <p:nvPr/>
          </p:nvSpPr>
          <p:spPr>
            <a:xfrm>
              <a:off x="9048750" y="4905375"/>
              <a:ext cx="1905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EE2B2B"/>
                  </a:solidFill>
                  <a:latin typeface="Inter"/>
                  <a:ea typeface="Inter"/>
                  <a:cs typeface="Inter"/>
                  <a:sym typeface="Inter"/>
                </a:rPr>
                <a:t>+31%</a:t>
              </a:r>
              <a:endParaRPr b="1" sz="1100">
                <a:solidFill>
                  <a:srgbClr val="EE2B2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256" name="Google Shape;256;p20"/>
          <p:cNvSpPr txBox="1"/>
          <p:nvPr/>
        </p:nvSpPr>
        <p:spPr>
          <a:xfrm>
            <a:off x="571500" y="59055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924 equivalencias · Similitud media 0,844 · Modelo MiniLM-L12-v2</a:t>
            </a:r>
            <a:endParaRPr b="0" sz="1200">
              <a:solidFill>
                <a:srgbClr val="DAFFD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7" name="Google Shape;257;p20"/>
          <p:cNvSpPr txBox="1"/>
          <p:nvPr/>
        </p:nvSpPr>
        <p:spPr>
          <a:xfrm>
            <a:off x="9439275" y="6286500"/>
            <a:ext cx="2181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Daniel Porras Morales · TFE 2026</a:t>
            </a:r>
            <a:endParaRPr b="0" sz="110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2" name="Google Shape;262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21"/>
          <p:cNvSpPr/>
          <p:nvPr/>
        </p:nvSpPr>
        <p:spPr>
          <a:xfrm>
            <a:off x="571500" y="571500"/>
            <a:ext cx="57300" cy="5526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1"/>
          <p:cNvSpPr txBox="1"/>
          <p:nvPr/>
        </p:nvSpPr>
        <p:spPr>
          <a:xfrm>
            <a:off x="809625" y="571500"/>
            <a:ext cx="10572900" cy="554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IPC Personalizado: Tu inflación real</a:t>
            </a:r>
            <a:endParaRPr b="1" sz="360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grpSp>
        <p:nvGrpSpPr>
          <p:cNvPr id="266" name="Google Shape;266;p21"/>
          <p:cNvGrpSpPr/>
          <p:nvPr/>
        </p:nvGrpSpPr>
        <p:grpSpPr>
          <a:xfrm>
            <a:off x="571500" y="1524000"/>
            <a:ext cx="5334000" cy="4000500"/>
            <a:chOff x="571500" y="1524000"/>
            <a:chExt cx="5334000" cy="4000500"/>
          </a:xfrm>
        </p:grpSpPr>
        <p:sp>
          <p:nvSpPr>
            <p:cNvPr id="267" name="Google Shape;267;p21"/>
            <p:cNvSpPr/>
            <p:nvPr/>
          </p:nvSpPr>
          <p:spPr>
            <a:xfrm>
              <a:off x="571500" y="1524000"/>
              <a:ext cx="5334000" cy="4000500"/>
            </a:xfrm>
            <a:prstGeom prst="roundRect">
              <a:avLst>
                <a:gd fmla="val 3809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68" name="Google Shape;268;p21"/>
            <p:cNvPicPr preferRelativeResize="0"/>
            <p:nvPr/>
          </p:nvPicPr>
          <p:blipFill rotWithShape="1">
            <a:blip r:embed="rId5">
              <a:alphaModFix/>
            </a:blip>
            <a:srcRect b="0" l="11526" r="11533" t="0"/>
            <a:stretch/>
          </p:blipFill>
          <p:spPr>
            <a:xfrm>
              <a:off x="762000" y="1714500"/>
              <a:ext cx="4953000" cy="3619500"/>
            </a:xfrm>
            <a:prstGeom prst="roundRect">
              <a:avLst>
                <a:gd fmla="val 3157" name="adj"/>
              </a:avLst>
            </a:prstGeom>
            <a:noFill/>
            <a:ln>
              <a:noFill/>
            </a:ln>
          </p:spPr>
        </p:pic>
      </p:grpSp>
      <p:grpSp>
        <p:nvGrpSpPr>
          <p:cNvPr id="269" name="Google Shape;269;p21"/>
          <p:cNvGrpSpPr/>
          <p:nvPr/>
        </p:nvGrpSpPr>
        <p:grpSpPr>
          <a:xfrm>
            <a:off x="6286500" y="1524000"/>
            <a:ext cx="5334000" cy="2667000"/>
            <a:chOff x="6286500" y="1524000"/>
            <a:chExt cx="5334000" cy="2667000"/>
          </a:xfrm>
        </p:grpSpPr>
        <p:sp>
          <p:nvSpPr>
            <p:cNvPr id="270" name="Google Shape;270;p21"/>
            <p:cNvSpPr/>
            <p:nvPr/>
          </p:nvSpPr>
          <p:spPr>
            <a:xfrm>
              <a:off x="6286500" y="1524000"/>
              <a:ext cx="5334000" cy="2667000"/>
            </a:xfrm>
            <a:prstGeom prst="roundRect">
              <a:avLst>
                <a:gd fmla="val 5714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" name="Google Shape;271;p21"/>
            <p:cNvSpPr txBox="1"/>
            <p:nvPr/>
          </p:nvSpPr>
          <p:spPr>
            <a:xfrm>
              <a:off x="6572250" y="1762125"/>
              <a:ext cx="4762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DAFFDE"/>
                  </a:solidFill>
                  <a:latin typeface="Urbanist"/>
                  <a:ea typeface="Urbanist"/>
                  <a:cs typeface="Urbanist"/>
                  <a:sym typeface="Urbanist"/>
                </a:rPr>
                <a:t>Cesta Dani (50 productos)</a:t>
              </a:r>
              <a:endParaRPr b="1" sz="20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272" name="Google Shape;272;p21"/>
            <p:cNvSpPr/>
            <p:nvPr/>
          </p:nvSpPr>
          <p:spPr>
            <a:xfrm>
              <a:off x="6572250" y="2238375"/>
              <a:ext cx="4191000" cy="19200"/>
            </a:xfrm>
            <a:prstGeom prst="rect">
              <a:avLst/>
            </a:prstGeom>
            <a:solidFill>
              <a:srgbClr val="00C853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21"/>
            <p:cNvSpPr txBox="1"/>
            <p:nvPr/>
          </p:nvSpPr>
          <p:spPr>
            <a:xfrm>
              <a:off x="6572250" y="2381250"/>
              <a:ext cx="4762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54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IPC: 99,17</a:t>
              </a:r>
              <a:endParaRPr b="1" sz="54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sp>
          <p:nvSpPr>
            <p:cNvPr id="274" name="Google Shape;274;p21"/>
            <p:cNvSpPr txBox="1"/>
            <p:nvPr/>
          </p:nvSpPr>
          <p:spPr>
            <a:xfrm>
              <a:off x="6572250" y="3429000"/>
              <a:ext cx="4762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00C853"/>
                  </a:solidFill>
                  <a:latin typeface="Inter"/>
                  <a:ea typeface="Inter"/>
                  <a:cs typeface="Inter"/>
                  <a:sym typeface="Inter"/>
                </a:rPr>
                <a:t>-0,83% desde nov-25</a:t>
              </a:r>
              <a:endParaRPr b="0" sz="1800">
                <a:solidFill>
                  <a:srgbClr val="00C85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75" name="Google Shape;275;p21"/>
          <p:cNvGrpSpPr/>
          <p:nvPr/>
        </p:nvGrpSpPr>
        <p:grpSpPr>
          <a:xfrm>
            <a:off x="6286500" y="4381500"/>
            <a:ext cx="5334000" cy="1143000"/>
            <a:chOff x="6286500" y="4381500"/>
            <a:chExt cx="5334000" cy="1143000"/>
          </a:xfrm>
        </p:grpSpPr>
        <p:sp>
          <p:nvSpPr>
            <p:cNvPr id="276" name="Google Shape;276;p21"/>
            <p:cNvSpPr/>
            <p:nvPr/>
          </p:nvSpPr>
          <p:spPr>
            <a:xfrm>
              <a:off x="6286500" y="4381500"/>
              <a:ext cx="5334000" cy="1143000"/>
            </a:xfrm>
            <a:prstGeom prst="roundRect">
              <a:avLst>
                <a:gd fmla="val 13333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" name="Google Shape;277;p21"/>
            <p:cNvSpPr txBox="1"/>
            <p:nvPr/>
          </p:nvSpPr>
          <p:spPr>
            <a:xfrm>
              <a:off x="6572250" y="4381500"/>
              <a:ext cx="47625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00C853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check_circle</a:t>
              </a:r>
              <a:endParaRPr/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00C853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check_circle</a:t>
              </a:r>
              <a:endParaRPr/>
            </a:p>
          </p:txBody>
        </p:sp>
      </p:grpSp>
      <p:sp>
        <p:nvSpPr>
          <p:cNvPr id="278" name="Google Shape;278;p21"/>
          <p:cNvSpPr txBox="1"/>
          <p:nvPr/>
        </p:nvSpPr>
        <p:spPr>
          <a:xfrm>
            <a:off x="9439275" y="6286500"/>
            <a:ext cx="2181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Daniel Porras Morales · TFE 2026</a:t>
            </a:r>
            <a:endParaRPr b="0" sz="110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9" name="Google Shape;279;p21"/>
          <p:cNvSpPr txBox="1"/>
          <p:nvPr/>
        </p:nvSpPr>
        <p:spPr>
          <a:xfrm>
            <a:off x="6836325" y="4546064"/>
            <a:ext cx="35754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6 perfiles predefinidos</a:t>
            </a:r>
            <a:endParaRPr>
              <a:solidFill>
                <a:srgbClr val="DAFFD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DAFFD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rgbClr val="DAFFD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0" name="Google Shape;280;p21"/>
          <p:cNvSpPr txBox="1"/>
          <p:nvPr/>
        </p:nvSpPr>
        <p:spPr>
          <a:xfrm>
            <a:off x="6836325" y="4914475"/>
            <a:ext cx="31527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Cálculo ponderado real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117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5" name="Google Shape;28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2"/>
          <p:cNvSpPr txBox="1"/>
          <p:nvPr/>
        </p:nvSpPr>
        <p:spPr>
          <a:xfrm>
            <a:off x="809625" y="571500"/>
            <a:ext cx="11351418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Análisis complementarios</a:t>
            </a:r>
            <a:endParaRPr/>
          </a:p>
        </p:txBody>
      </p:sp>
      <p:sp>
        <p:nvSpPr>
          <p:cNvPr id="287" name="Google Shape;287;p22"/>
          <p:cNvSpPr/>
          <p:nvPr/>
        </p:nvSpPr>
        <p:spPr>
          <a:xfrm>
            <a:off x="571500" y="571500"/>
            <a:ext cx="57150" cy="55245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2"/>
          <p:cNvSpPr/>
          <p:nvPr/>
        </p:nvSpPr>
        <p:spPr>
          <a:xfrm>
            <a:off x="484448" y="2424050"/>
            <a:ext cx="3610500" cy="2943300"/>
          </a:xfrm>
          <a:prstGeom prst="roundRect">
            <a:avLst>
              <a:gd fmla="val 4289" name="adj"/>
            </a:avLst>
          </a:prstGeom>
          <a:solidFill>
            <a:srgbClr val="161B22"/>
          </a:solidFill>
          <a:ln cap="flat" cmpd="sng" w="9525">
            <a:solidFill>
              <a:srgbClr val="3036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2"/>
          <p:cNvSpPr txBox="1"/>
          <p:nvPr/>
        </p:nvSpPr>
        <p:spPr>
          <a:xfrm>
            <a:off x="866775" y="3319462"/>
            <a:ext cx="3113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rPr>
              <a:t>K-Means</a:t>
            </a:r>
            <a:endParaRPr/>
          </a:p>
        </p:txBody>
      </p:sp>
      <p:sp>
        <p:nvSpPr>
          <p:cNvPr id="290" name="Google Shape;290;p22"/>
          <p:cNvSpPr/>
          <p:nvPr/>
        </p:nvSpPr>
        <p:spPr>
          <a:xfrm>
            <a:off x="4277048" y="2424063"/>
            <a:ext cx="3610500" cy="2943300"/>
          </a:xfrm>
          <a:prstGeom prst="roundRect">
            <a:avLst>
              <a:gd fmla="val 4289" name="adj"/>
            </a:avLst>
          </a:prstGeom>
          <a:solidFill>
            <a:srgbClr val="161B22"/>
          </a:solidFill>
          <a:ln cap="flat" cmpd="sng" w="9525">
            <a:solidFill>
              <a:srgbClr val="3036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22"/>
          <p:cNvSpPr txBox="1"/>
          <p:nvPr/>
        </p:nvSpPr>
        <p:spPr>
          <a:xfrm>
            <a:off x="866775" y="3929062"/>
            <a:ext cx="2965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5 perfiles de negocio.</a:t>
            </a:r>
            <a:endParaRPr/>
          </a:p>
        </p:txBody>
      </p:sp>
      <p:sp>
        <p:nvSpPr>
          <p:cNvPr id="292" name="Google Shape;292;p22"/>
          <p:cNvSpPr txBox="1"/>
          <p:nvPr/>
        </p:nvSpPr>
        <p:spPr>
          <a:xfrm>
            <a:off x="866775" y="4357687"/>
            <a:ext cx="2965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Silhouette: 0,441</a:t>
            </a:r>
            <a:endParaRPr/>
          </a:p>
        </p:txBody>
      </p:sp>
      <p:sp>
        <p:nvSpPr>
          <p:cNvPr id="293" name="Google Shape;293;p22"/>
          <p:cNvSpPr txBox="1"/>
          <p:nvPr/>
        </p:nvSpPr>
        <p:spPr>
          <a:xfrm>
            <a:off x="866775" y="4786312"/>
            <a:ext cx="2965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76% varianza PCA.</a:t>
            </a:r>
            <a:endParaRPr/>
          </a:p>
        </p:txBody>
      </p:sp>
      <p:pic>
        <p:nvPicPr>
          <p:cNvPr descr="image.png" id="294" name="Google Shape;294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6775" y="2747962"/>
            <a:ext cx="428625" cy="381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5" name="Google Shape;295;p22"/>
          <p:cNvGrpSpPr/>
          <p:nvPr/>
        </p:nvGrpSpPr>
        <p:grpSpPr>
          <a:xfrm>
            <a:off x="4557963" y="2747962"/>
            <a:ext cx="3113700" cy="2269350"/>
            <a:chOff x="4613225" y="2747962"/>
            <a:chExt cx="3113700" cy="2269350"/>
          </a:xfrm>
        </p:grpSpPr>
        <p:sp>
          <p:nvSpPr>
            <p:cNvPr id="296" name="Google Shape;296;p22"/>
            <p:cNvSpPr txBox="1"/>
            <p:nvPr/>
          </p:nvSpPr>
          <p:spPr>
            <a:xfrm>
              <a:off x="4613225" y="3319462"/>
              <a:ext cx="31137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100" u="none" cap="none" strike="noStrike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Shrinkflation</a:t>
              </a:r>
              <a:endParaRPr/>
            </a:p>
          </p:txBody>
        </p:sp>
        <p:sp>
          <p:nvSpPr>
            <p:cNvPr id="297" name="Google Shape;297;p22"/>
            <p:cNvSpPr txBox="1"/>
            <p:nvPr/>
          </p:nvSpPr>
          <p:spPr>
            <a:xfrm>
              <a:off x="4613225" y="3929062"/>
              <a:ext cx="29655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500" u="none" cap="none" strike="noStrike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20 alertas detectadas.</a:t>
              </a:r>
              <a:endParaRPr/>
            </a:p>
          </p:txBody>
        </p:sp>
        <p:sp>
          <p:nvSpPr>
            <p:cNvPr id="298" name="Google Shape;298;p22"/>
            <p:cNvSpPr txBox="1"/>
            <p:nvPr/>
          </p:nvSpPr>
          <p:spPr>
            <a:xfrm>
              <a:off x="4613225" y="4357687"/>
              <a:ext cx="29655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500" u="none" cap="none" strike="noStrike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Alcachofa:</a:t>
              </a:r>
              <a:r>
                <a:rPr b="0" i="0" lang="en-US" sz="1500" u="none" cap="none" strike="noStrike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 +31,6% €/kg.</a:t>
              </a:r>
              <a:endParaRPr/>
            </a:p>
          </p:txBody>
        </p:sp>
        <p:sp>
          <p:nvSpPr>
            <p:cNvPr id="299" name="Google Shape;299;p22"/>
            <p:cNvSpPr txBox="1"/>
            <p:nvPr/>
          </p:nvSpPr>
          <p:spPr>
            <a:xfrm>
              <a:off x="4613225" y="4786312"/>
              <a:ext cx="29655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500" u="none" cap="none" strike="noStrike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Mismo precio, menos peso.</a:t>
              </a:r>
              <a:endParaRPr/>
            </a:p>
          </p:txBody>
        </p:sp>
        <p:pic>
          <p:nvPicPr>
            <p:cNvPr descr="image.png" id="300" name="Google Shape;300;p22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4613225" y="2747962"/>
              <a:ext cx="381000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1" name="Google Shape;301;p22"/>
          <p:cNvSpPr/>
          <p:nvPr/>
        </p:nvSpPr>
        <p:spPr>
          <a:xfrm>
            <a:off x="8069615" y="2424063"/>
            <a:ext cx="3610500" cy="2943300"/>
          </a:xfrm>
          <a:prstGeom prst="roundRect">
            <a:avLst>
              <a:gd fmla="val 4289" name="adj"/>
            </a:avLst>
          </a:prstGeom>
          <a:solidFill>
            <a:srgbClr val="161B22"/>
          </a:solidFill>
          <a:ln cap="flat" cmpd="sng" w="9525">
            <a:solidFill>
              <a:srgbClr val="3036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02" name="Google Shape;302;p22"/>
          <p:cNvGrpSpPr/>
          <p:nvPr/>
        </p:nvGrpSpPr>
        <p:grpSpPr>
          <a:xfrm>
            <a:off x="8359675" y="2747962"/>
            <a:ext cx="3113700" cy="2269350"/>
            <a:chOff x="8359675" y="2747962"/>
            <a:chExt cx="3113700" cy="2269350"/>
          </a:xfrm>
        </p:grpSpPr>
        <p:sp>
          <p:nvSpPr>
            <p:cNvPr id="303" name="Google Shape;303;p22"/>
            <p:cNvSpPr txBox="1"/>
            <p:nvPr/>
          </p:nvSpPr>
          <p:spPr>
            <a:xfrm>
              <a:off x="8359675" y="3319462"/>
              <a:ext cx="31137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100" u="none" cap="none" strike="noStrike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Catálogo</a:t>
              </a:r>
              <a:endParaRPr/>
            </a:p>
          </p:txBody>
        </p:sp>
        <p:sp>
          <p:nvSpPr>
            <p:cNvPr id="304" name="Google Shape;304;p22"/>
            <p:cNvSpPr txBox="1"/>
            <p:nvPr/>
          </p:nvSpPr>
          <p:spPr>
            <a:xfrm>
              <a:off x="8359675" y="3929062"/>
              <a:ext cx="29655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500" u="none" cap="none" strike="noStrike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615 nuevos lanzamientos.</a:t>
              </a:r>
              <a:endParaRPr/>
            </a:p>
          </p:txBody>
        </p:sp>
        <p:sp>
          <p:nvSpPr>
            <p:cNvPr id="305" name="Google Shape;305;p22"/>
            <p:cNvSpPr txBox="1"/>
            <p:nvPr/>
          </p:nvSpPr>
          <p:spPr>
            <a:xfrm>
              <a:off x="8359675" y="4357687"/>
              <a:ext cx="29655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500" u="none" cap="none" strike="noStrike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717 bajas confirmadas.</a:t>
              </a:r>
              <a:endParaRPr/>
            </a:p>
          </p:txBody>
        </p:sp>
        <p:sp>
          <p:nvSpPr>
            <p:cNvPr id="306" name="Google Shape;306;p22"/>
            <p:cNvSpPr txBox="1"/>
            <p:nvPr/>
          </p:nvSpPr>
          <p:spPr>
            <a:xfrm>
              <a:off x="8359675" y="4786312"/>
              <a:ext cx="29655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500" u="none" cap="none" strike="noStrike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Pico Marzo: +157 productos.</a:t>
              </a:r>
              <a:endParaRPr/>
            </a:p>
          </p:txBody>
        </p:sp>
        <p:pic>
          <p:nvPicPr>
            <p:cNvPr descr="image.png" id="307" name="Google Shape;307;p22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8359675" y="2747962"/>
              <a:ext cx="428625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8" name="Google Shape;308;p22"/>
          <p:cNvSpPr txBox="1"/>
          <p:nvPr/>
        </p:nvSpPr>
        <p:spPr>
          <a:xfrm>
            <a:off x="9439275" y="6286500"/>
            <a:ext cx="21813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Daniel Porras Morales · TFE 2026</a:t>
            </a:r>
            <a:endParaRPr b="0" sz="110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Google Shape;313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23"/>
          <p:cNvSpPr/>
          <p:nvPr/>
        </p:nvSpPr>
        <p:spPr>
          <a:xfrm>
            <a:off x="571500" y="571500"/>
            <a:ext cx="57300" cy="5526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23"/>
          <p:cNvSpPr txBox="1"/>
          <p:nvPr/>
        </p:nvSpPr>
        <p:spPr>
          <a:xfrm>
            <a:off x="809625" y="571500"/>
            <a:ext cx="11049000" cy="554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Convergencia intermodular emergente</a:t>
            </a:r>
            <a:endParaRPr b="1" sz="360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grpSp>
        <p:nvGrpSpPr>
          <p:cNvPr id="316" name="Google Shape;316;p23"/>
          <p:cNvGrpSpPr/>
          <p:nvPr/>
        </p:nvGrpSpPr>
        <p:grpSpPr>
          <a:xfrm>
            <a:off x="571500" y="1524000"/>
            <a:ext cx="3429000" cy="2667000"/>
            <a:chOff x="571500" y="1524000"/>
            <a:chExt cx="3429000" cy="2667000"/>
          </a:xfrm>
        </p:grpSpPr>
        <p:sp>
          <p:nvSpPr>
            <p:cNvPr id="317" name="Google Shape;317;p23"/>
            <p:cNvSpPr/>
            <p:nvPr/>
          </p:nvSpPr>
          <p:spPr>
            <a:xfrm>
              <a:off x="571500" y="1524000"/>
              <a:ext cx="3429000" cy="2667000"/>
            </a:xfrm>
            <a:prstGeom prst="roundRect">
              <a:avLst>
                <a:gd fmla="val 5714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23"/>
            <p:cNvSpPr txBox="1"/>
            <p:nvPr/>
          </p:nvSpPr>
          <p:spPr>
            <a:xfrm>
              <a:off x="809625" y="1762125"/>
              <a:ext cx="29529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Detección Temporal</a:t>
              </a:r>
              <a:endParaRPr b="1" sz="20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15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LSTM detecta cambios temporales</a:t>
              </a:r>
              <a:endParaRPr b="0" sz="15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i="1" lang="en-US" sz="1300">
                  <a:solidFill>
                    <a:srgbClr val="8B949E"/>
                  </a:solidFill>
                  <a:latin typeface="Inter"/>
                  <a:ea typeface="Inter"/>
                  <a:cs typeface="Inter"/>
                  <a:sym typeface="Inter"/>
                </a:rPr>
                <a:t>Confirmado por </a:t>
              </a:r>
              <a:r>
                <a:rPr b="1" i="1"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SHAP XGBoost</a:t>
              </a:r>
              <a:r>
                <a:rPr b="0" i="1" lang="en-US" sz="1300">
                  <a:solidFill>
                    <a:srgbClr val="8B949E"/>
                  </a:solidFill>
                  <a:latin typeface="Inter"/>
                  <a:ea typeface="Inter"/>
                  <a:cs typeface="Inter"/>
                  <a:sym typeface="Inter"/>
                </a:rPr>
                <a:t> (pos. 9)</a:t>
              </a:r>
              <a:endParaRPr b="0" i="1" sz="1300">
                <a:solidFill>
                  <a:srgbClr val="8B949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19" name="Google Shape;319;p23"/>
          <p:cNvGrpSpPr/>
          <p:nvPr/>
        </p:nvGrpSpPr>
        <p:grpSpPr>
          <a:xfrm>
            <a:off x="4381500" y="1524000"/>
            <a:ext cx="3429000" cy="2667000"/>
            <a:chOff x="4381500" y="1524000"/>
            <a:chExt cx="3429000" cy="2667000"/>
          </a:xfrm>
        </p:grpSpPr>
        <p:sp>
          <p:nvSpPr>
            <p:cNvPr id="320" name="Google Shape;320;p23"/>
            <p:cNvSpPr/>
            <p:nvPr/>
          </p:nvSpPr>
          <p:spPr>
            <a:xfrm>
              <a:off x="4381500" y="1524000"/>
              <a:ext cx="3429000" cy="2667000"/>
            </a:xfrm>
            <a:prstGeom prst="roundRect">
              <a:avLst>
                <a:gd fmla="val 5714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23"/>
            <p:cNvSpPr txBox="1"/>
            <p:nvPr/>
          </p:nvSpPr>
          <p:spPr>
            <a:xfrm>
              <a:off x="4619625" y="1762125"/>
              <a:ext cx="29529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Detección de Anomalías</a:t>
              </a:r>
              <a:endParaRPr b="1" sz="20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15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XGBoost se degrada en abril-mayo</a:t>
              </a:r>
              <a:endParaRPr b="0" sz="15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i="1"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Autoencoder</a:t>
              </a:r>
              <a:r>
                <a:rPr b="0" i="1" lang="en-US" sz="1300">
                  <a:solidFill>
                    <a:srgbClr val="8B949E"/>
                  </a:solidFill>
                  <a:latin typeface="Inter"/>
                  <a:ea typeface="Inter"/>
                  <a:cs typeface="Inter"/>
                  <a:sym typeface="Inter"/>
                </a:rPr>
                <a:t> detecta pico de anomalías</a:t>
              </a:r>
              <a:endParaRPr b="0" i="1" sz="1300">
                <a:solidFill>
                  <a:srgbClr val="8B949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22" name="Google Shape;322;p23"/>
          <p:cNvGrpSpPr/>
          <p:nvPr/>
        </p:nvGrpSpPr>
        <p:grpSpPr>
          <a:xfrm>
            <a:off x="8191500" y="1524000"/>
            <a:ext cx="3429000" cy="2667000"/>
            <a:chOff x="8191500" y="1524000"/>
            <a:chExt cx="3429000" cy="2667000"/>
          </a:xfrm>
        </p:grpSpPr>
        <p:sp>
          <p:nvSpPr>
            <p:cNvPr id="323" name="Google Shape;323;p23"/>
            <p:cNvSpPr/>
            <p:nvPr/>
          </p:nvSpPr>
          <p:spPr>
            <a:xfrm>
              <a:off x="8191500" y="1524000"/>
              <a:ext cx="3429000" cy="2667000"/>
            </a:xfrm>
            <a:prstGeom prst="roundRect">
              <a:avLst>
                <a:gd fmla="val 5714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p23"/>
            <p:cNvSpPr txBox="1"/>
            <p:nvPr/>
          </p:nvSpPr>
          <p:spPr>
            <a:xfrm>
              <a:off x="8429625" y="1762125"/>
              <a:ext cx="29529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Independencia Metodológica</a:t>
              </a:r>
              <a:endParaRPr b="1" sz="20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Jaccard ≈ 0 </a:t>
              </a:r>
              <a:r>
                <a:rPr b="0" lang="en-US" sz="15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entre detectores</a:t>
              </a:r>
              <a:endParaRPr b="1" sz="15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8B949E"/>
                  </a:solidFill>
                  <a:latin typeface="Inter"/>
                  <a:ea typeface="Inter"/>
                  <a:cs typeface="Inter"/>
                  <a:sym typeface="Inter"/>
                </a:rPr>
                <a:t>Sin redundancia, máxima cobertura de alertas</a:t>
              </a:r>
              <a:endParaRPr b="0" sz="1300">
                <a:solidFill>
                  <a:srgbClr val="8B949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325" name="Google Shape;325;p23"/>
          <p:cNvSpPr txBox="1"/>
          <p:nvPr/>
        </p:nvSpPr>
        <p:spPr>
          <a:xfrm>
            <a:off x="8763000" y="6286500"/>
            <a:ext cx="2857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Daniel Porras Morales · TFE 2026</a:t>
            </a:r>
            <a:endParaRPr b="0" sz="110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grpSp>
        <p:nvGrpSpPr>
          <p:cNvPr id="326" name="Google Shape;326;p23"/>
          <p:cNvGrpSpPr/>
          <p:nvPr/>
        </p:nvGrpSpPr>
        <p:grpSpPr>
          <a:xfrm>
            <a:off x="571500" y="4429125"/>
            <a:ext cx="11049000" cy="1428900"/>
            <a:chOff x="571500" y="4429125"/>
            <a:chExt cx="11049000" cy="1428900"/>
          </a:xfrm>
        </p:grpSpPr>
        <p:pic>
          <p:nvPicPr>
            <p:cNvPr id="327" name="Google Shape;327;p2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571500" y="4429125"/>
              <a:ext cx="11049000" cy="1428900"/>
            </a:xfrm>
            <a:prstGeom prst="roundRect">
              <a:avLst>
                <a:gd fmla="val 17629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</p:pic>
        <p:sp>
          <p:nvSpPr>
            <p:cNvPr id="328" name="Google Shape;328;p23"/>
            <p:cNvSpPr txBox="1"/>
            <p:nvPr/>
          </p:nvSpPr>
          <p:spPr>
            <a:xfrm>
              <a:off x="857250" y="4572000"/>
              <a:ext cx="10477500" cy="1143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Validación cruzada emergente</a:t>
              </a:r>
              <a:endParaRPr b="1" sz="24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ctr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i="1" lang="en-US" sz="16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Los módulos validan mutuamente la veracidad de los cambios sin haber sido diseñados para ello.</a:t>
              </a:r>
              <a:endParaRPr b="0" i="1" sz="16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3" name="Google Shape;333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34" name="Google Shape;334;p24"/>
          <p:cNvGrpSpPr/>
          <p:nvPr/>
        </p:nvGrpSpPr>
        <p:grpSpPr>
          <a:xfrm>
            <a:off x="-476250" y="-476250"/>
            <a:ext cx="13335000" cy="7620000"/>
            <a:chOff x="-476250" y="-476250"/>
            <a:chExt cx="13335000" cy="7620000"/>
          </a:xfrm>
        </p:grpSpPr>
        <p:sp>
          <p:nvSpPr>
            <p:cNvPr id="335" name="Google Shape;335;p24"/>
            <p:cNvSpPr/>
            <p:nvPr/>
          </p:nvSpPr>
          <p:spPr>
            <a:xfrm>
              <a:off x="10001250" y="-476250"/>
              <a:ext cx="2857500" cy="2857500"/>
            </a:xfrm>
            <a:prstGeom prst="ellipse">
              <a:avLst/>
            </a:prstGeom>
            <a:solidFill>
              <a:srgbClr val="00C853">
                <a:alpha val="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" name="Google Shape;336;p24"/>
            <p:cNvSpPr/>
            <p:nvPr/>
          </p:nvSpPr>
          <p:spPr>
            <a:xfrm>
              <a:off x="-476250" y="5238750"/>
              <a:ext cx="1905000" cy="1905000"/>
            </a:xfrm>
            <a:prstGeom prst="ellipse">
              <a:avLst/>
            </a:prstGeom>
            <a:solidFill>
              <a:srgbClr val="00C853">
                <a:alpha val="3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37" name="Google Shape;337;p24"/>
          <p:cNvGrpSpPr/>
          <p:nvPr/>
        </p:nvGrpSpPr>
        <p:grpSpPr>
          <a:xfrm>
            <a:off x="5524500" y="1905000"/>
            <a:ext cx="6096000" cy="3429000"/>
            <a:chOff x="5524500" y="1905000"/>
            <a:chExt cx="6096000" cy="3429000"/>
          </a:xfrm>
        </p:grpSpPr>
        <p:sp>
          <p:nvSpPr>
            <p:cNvPr id="338" name="Google Shape;338;p24"/>
            <p:cNvSpPr/>
            <p:nvPr/>
          </p:nvSpPr>
          <p:spPr>
            <a:xfrm>
              <a:off x="5524500" y="1905000"/>
              <a:ext cx="6096000" cy="3429000"/>
            </a:xfrm>
            <a:prstGeom prst="roundRect">
              <a:avLst>
                <a:gd fmla="val 3333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339" name="Google Shape;339;p24"/>
            <p:cNvPicPr preferRelativeResize="0"/>
            <p:nvPr/>
          </p:nvPicPr>
          <p:blipFill rotWithShape="1">
            <a:blip r:embed="rId5">
              <a:alphaModFix/>
            </a:blip>
            <a:srcRect b="1229" l="0" r="0" t="1239"/>
            <a:stretch/>
          </p:blipFill>
          <p:spPr>
            <a:xfrm>
              <a:off x="5619750" y="2000250"/>
              <a:ext cx="5905500" cy="32385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40" name="Google Shape;340;p24"/>
          <p:cNvGrpSpPr/>
          <p:nvPr/>
        </p:nvGrpSpPr>
        <p:grpSpPr>
          <a:xfrm>
            <a:off x="571500" y="1714500"/>
            <a:ext cx="4572000" cy="3429150"/>
            <a:chOff x="571500" y="1714500"/>
            <a:chExt cx="4572000" cy="3429150"/>
          </a:xfrm>
        </p:grpSpPr>
        <p:sp>
          <p:nvSpPr>
            <p:cNvPr id="341" name="Google Shape;341;p24"/>
            <p:cNvSpPr/>
            <p:nvPr/>
          </p:nvSpPr>
          <p:spPr>
            <a:xfrm>
              <a:off x="571500" y="1714500"/>
              <a:ext cx="4572000" cy="1809600"/>
            </a:xfrm>
            <a:prstGeom prst="roundRect">
              <a:avLst>
                <a:gd fmla="val 6315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" name="Google Shape;342;p24"/>
            <p:cNvSpPr txBox="1"/>
            <p:nvPr/>
          </p:nvSpPr>
          <p:spPr>
            <a:xfrm>
              <a:off x="809625" y="1857375"/>
              <a:ext cx="40959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1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API Flask</a:t>
              </a:r>
              <a:endParaRPr b="1" sz="21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00C853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api</a:t>
              </a:r>
              <a:endParaRPr/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t/>
              </a:r>
              <a:endParaRPr sz="100">
                <a:solidFill>
                  <a:srgbClr val="00C853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00C853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speed</a:t>
              </a:r>
              <a:endParaRPr/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t/>
              </a:r>
              <a:endParaRPr sz="100">
                <a:solidFill>
                  <a:srgbClr val="00C853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00C853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memory</a:t>
              </a:r>
              <a:endParaRPr/>
            </a:p>
          </p:txBody>
        </p:sp>
        <p:sp>
          <p:nvSpPr>
            <p:cNvPr id="343" name="Google Shape;343;p24"/>
            <p:cNvSpPr/>
            <p:nvPr/>
          </p:nvSpPr>
          <p:spPr>
            <a:xfrm>
              <a:off x="571500" y="3714750"/>
              <a:ext cx="4572000" cy="1428900"/>
            </a:xfrm>
            <a:prstGeom prst="roundRect">
              <a:avLst>
                <a:gd fmla="val 8000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" name="Google Shape;344;p24"/>
            <p:cNvSpPr txBox="1"/>
            <p:nvPr/>
          </p:nvSpPr>
          <p:spPr>
            <a:xfrm>
              <a:off x="809625" y="3857625"/>
              <a:ext cx="40959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1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Frontend Vue 3</a:t>
              </a:r>
              <a:endParaRPr b="1" sz="21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00C853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visibility</a:t>
              </a:r>
              <a:endParaRPr/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00C853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bar_chart</a:t>
              </a:r>
              <a:endParaRPr/>
            </a:p>
          </p:txBody>
        </p:sp>
      </p:grpSp>
      <p:sp>
        <p:nvSpPr>
          <p:cNvPr id="345" name="Google Shape;345;p24"/>
          <p:cNvSpPr txBox="1"/>
          <p:nvPr/>
        </p:nvSpPr>
        <p:spPr>
          <a:xfrm>
            <a:off x="8763000" y="628650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Daniel Porras Morales · TFE 2026</a:t>
            </a:r>
            <a:endParaRPr sz="110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46" name="Google Shape;346;p24"/>
          <p:cNvSpPr txBox="1"/>
          <p:nvPr/>
        </p:nvSpPr>
        <p:spPr>
          <a:xfrm>
            <a:off x="1159250" y="4192527"/>
            <a:ext cx="24162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8 vistas interactivas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4"/>
          <p:cNvSpPr txBox="1"/>
          <p:nvPr/>
        </p:nvSpPr>
        <p:spPr>
          <a:xfrm>
            <a:off x="809625" y="5715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Interfaz de usuario</a:t>
            </a:r>
            <a:endParaRPr/>
          </a:p>
        </p:txBody>
      </p:sp>
      <p:sp>
        <p:nvSpPr>
          <p:cNvPr id="348" name="Google Shape;348;p24"/>
          <p:cNvSpPr/>
          <p:nvPr/>
        </p:nvSpPr>
        <p:spPr>
          <a:xfrm>
            <a:off x="571500" y="571500"/>
            <a:ext cx="57300" cy="5526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4"/>
          <p:cNvSpPr txBox="1"/>
          <p:nvPr/>
        </p:nvSpPr>
        <p:spPr>
          <a:xfrm>
            <a:off x="1159250" y="2221000"/>
            <a:ext cx="2524500" cy="39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11 endpoints REST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4"/>
          <p:cNvSpPr txBox="1"/>
          <p:nvPr/>
        </p:nvSpPr>
        <p:spPr>
          <a:xfrm>
            <a:off x="1159250" y="2654336"/>
            <a:ext cx="24162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Latencia &lt; 50ms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4"/>
          <p:cNvSpPr txBox="1"/>
          <p:nvPr/>
        </p:nvSpPr>
        <p:spPr>
          <a:xfrm>
            <a:off x="1159250" y="3066055"/>
            <a:ext cx="2762700" cy="4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Carga optimizada en memoria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4"/>
          <p:cNvSpPr txBox="1"/>
          <p:nvPr/>
        </p:nvSpPr>
        <p:spPr>
          <a:xfrm>
            <a:off x="1159250" y="4571993"/>
            <a:ext cx="25785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Visualización con ECharts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117"/>
        </a:solidFill>
      </p:bgPr>
    </p:bg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Google Shape;35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8" name="Google Shape;358;p25"/>
          <p:cNvGrpSpPr/>
          <p:nvPr/>
        </p:nvGrpSpPr>
        <p:grpSpPr>
          <a:xfrm>
            <a:off x="571500" y="1428750"/>
            <a:ext cx="11049000" cy="1143000"/>
            <a:chOff x="571500" y="1428750"/>
            <a:chExt cx="11049000" cy="1143000"/>
          </a:xfrm>
        </p:grpSpPr>
        <p:sp>
          <p:nvSpPr>
            <p:cNvPr id="359" name="Google Shape;359;p25"/>
            <p:cNvSpPr/>
            <p:nvPr/>
          </p:nvSpPr>
          <p:spPr>
            <a:xfrm>
              <a:off x="571500" y="1428750"/>
              <a:ext cx="11049000" cy="1143000"/>
            </a:xfrm>
            <a:prstGeom prst="roundRect">
              <a:avLst>
                <a:gd fmla="val 12500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25"/>
            <p:cNvSpPr txBox="1"/>
            <p:nvPr/>
          </p:nvSpPr>
          <p:spPr>
            <a:xfrm>
              <a:off x="857250" y="1619250"/>
              <a:ext cx="1047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F5F5F5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docker-compose </a:t>
              </a:r>
              <a:r>
                <a:rPr lang="en-US" sz="3200">
                  <a:solidFill>
                    <a:srgbClr val="00C853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up -d</a:t>
              </a:r>
              <a:endParaRPr sz="3200">
                <a:solidFill>
                  <a:srgbClr val="F5F5F5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361" name="Google Shape;361;p25"/>
          <p:cNvGrpSpPr/>
          <p:nvPr/>
        </p:nvGrpSpPr>
        <p:grpSpPr>
          <a:xfrm>
            <a:off x="571500" y="2857500"/>
            <a:ext cx="11049075" cy="1428900"/>
            <a:chOff x="571500" y="2857500"/>
            <a:chExt cx="11049075" cy="1428900"/>
          </a:xfrm>
        </p:grpSpPr>
        <p:sp>
          <p:nvSpPr>
            <p:cNvPr id="362" name="Google Shape;362;p25"/>
            <p:cNvSpPr/>
            <p:nvPr/>
          </p:nvSpPr>
          <p:spPr>
            <a:xfrm>
              <a:off x="571500" y="2857500"/>
              <a:ext cx="2524200" cy="1428900"/>
            </a:xfrm>
            <a:prstGeom prst="roundRect">
              <a:avLst>
                <a:gd fmla="val 8000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25"/>
            <p:cNvSpPr/>
            <p:nvPr/>
          </p:nvSpPr>
          <p:spPr>
            <a:xfrm>
              <a:off x="3413093" y="2857500"/>
              <a:ext cx="2524200" cy="1428900"/>
            </a:xfrm>
            <a:prstGeom prst="roundRect">
              <a:avLst>
                <a:gd fmla="val 8000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25"/>
            <p:cNvSpPr/>
            <p:nvPr/>
          </p:nvSpPr>
          <p:spPr>
            <a:xfrm>
              <a:off x="6254686" y="2857500"/>
              <a:ext cx="2524200" cy="1428900"/>
            </a:xfrm>
            <a:prstGeom prst="roundRect">
              <a:avLst>
                <a:gd fmla="val 8000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25"/>
            <p:cNvSpPr/>
            <p:nvPr/>
          </p:nvSpPr>
          <p:spPr>
            <a:xfrm>
              <a:off x="9096375" y="2857500"/>
              <a:ext cx="2524200" cy="1428900"/>
            </a:xfrm>
            <a:prstGeom prst="roundRect">
              <a:avLst>
                <a:gd fmla="val 8000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66" name="Google Shape;366;p25"/>
          <p:cNvGrpSpPr/>
          <p:nvPr/>
        </p:nvGrpSpPr>
        <p:grpSpPr>
          <a:xfrm>
            <a:off x="571500" y="4572000"/>
            <a:ext cx="11049000" cy="952500"/>
            <a:chOff x="571500" y="4572000"/>
            <a:chExt cx="11049000" cy="952500"/>
          </a:xfrm>
        </p:grpSpPr>
        <p:sp>
          <p:nvSpPr>
            <p:cNvPr id="367" name="Google Shape;367;p25"/>
            <p:cNvSpPr/>
            <p:nvPr/>
          </p:nvSpPr>
          <p:spPr>
            <a:xfrm>
              <a:off x="571500" y="4572000"/>
              <a:ext cx="11049000" cy="952500"/>
            </a:xfrm>
            <a:prstGeom prst="roundRect">
              <a:avLst>
                <a:gd fmla="val 15000" name="adj"/>
              </a:avLst>
            </a:prstGeom>
            <a:solidFill>
              <a:srgbClr val="00C853">
                <a:alpha val="10000"/>
              </a:srgbClr>
            </a:solidFill>
            <a:ln cap="flat" cmpd="sng" w="9525">
              <a:solidFill>
                <a:srgbClr val="00C85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25"/>
            <p:cNvSpPr txBox="1"/>
            <p:nvPr/>
          </p:nvSpPr>
          <p:spPr>
            <a:xfrm>
              <a:off x="857250" y="4572000"/>
              <a:ext cx="10477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Multi-stage build: </a:t>
              </a:r>
              <a:r>
                <a:rPr b="1" lang="en-US" sz="22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Optimización 97%</a:t>
              </a:r>
              <a:endParaRPr b="1" sz="22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Reducción drástica del tamaño de imagen: 1GB → 30MB</a:t>
              </a:r>
              <a:endParaRPr sz="16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369" name="Google Shape;369;p25"/>
          <p:cNvSpPr txBox="1"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up -d</a:t>
            </a:r>
            <a:endParaRPr/>
          </a:p>
        </p:txBody>
      </p:sp>
      <p:sp>
        <p:nvSpPr>
          <p:cNvPr id="370" name="Google Shape;370;p25"/>
          <p:cNvSpPr txBox="1"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Multi-stage build info</a:t>
            </a:r>
            <a:endParaRPr/>
          </a:p>
        </p:txBody>
      </p:sp>
      <p:sp>
        <p:nvSpPr>
          <p:cNvPr id="371" name="Google Shape;371;p25"/>
          <p:cNvSpPr txBox="1"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Elasticsearch (9200)</a:t>
            </a:r>
            <a:endParaRPr/>
          </a:p>
        </p:txBody>
      </p:sp>
      <p:sp>
        <p:nvSpPr>
          <p:cNvPr id="372" name="Google Shape;372;p25"/>
          <p:cNvSpPr txBox="1"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Kibana (5601)</a:t>
            </a:r>
            <a:endParaRPr/>
          </a:p>
        </p:txBody>
      </p:sp>
      <p:sp>
        <p:nvSpPr>
          <p:cNvPr id="373" name="Google Shape;373;p25"/>
          <p:cNvSpPr txBox="1"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API Flask (5000)</a:t>
            </a:r>
            <a:endParaRPr/>
          </a:p>
        </p:txBody>
      </p:sp>
      <p:sp>
        <p:nvSpPr>
          <p:cNvPr id="374" name="Google Shape;374;p25"/>
          <p:cNvSpPr txBox="1"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Nginx Front (80)</a:t>
            </a:r>
            <a:endParaRPr/>
          </a:p>
        </p:txBody>
      </p:sp>
      <p:sp>
        <p:nvSpPr>
          <p:cNvPr id="375" name="Google Shape;375;p25"/>
          <p:cNvSpPr txBox="1"/>
          <p:nvPr/>
        </p:nvSpPr>
        <p:spPr>
          <a:xfrm>
            <a:off x="809625" y="571500"/>
            <a:ext cx="11351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Despliegue con Docker</a:t>
            </a:r>
            <a:endParaRPr/>
          </a:p>
        </p:txBody>
      </p:sp>
      <p:sp>
        <p:nvSpPr>
          <p:cNvPr id="376" name="Google Shape;376;p25"/>
          <p:cNvSpPr/>
          <p:nvPr/>
        </p:nvSpPr>
        <p:spPr>
          <a:xfrm>
            <a:off x="571500" y="571500"/>
            <a:ext cx="57300" cy="5526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5"/>
          <p:cNvSpPr txBox="1"/>
          <p:nvPr/>
        </p:nvSpPr>
        <p:spPr>
          <a:xfrm>
            <a:off x="8763000" y="628650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Daniel Porras Morales · TFE 2026</a:t>
            </a:r>
            <a:endParaRPr sz="110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descr="image.png" id="378" name="Google Shape;378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2614" y="3194438"/>
            <a:ext cx="20288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25"/>
          <p:cNvSpPr txBox="1"/>
          <p:nvPr/>
        </p:nvSpPr>
        <p:spPr>
          <a:xfrm>
            <a:off x="888444" y="3718313"/>
            <a:ext cx="20289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Elasticsearch (9200)</a:t>
            </a:r>
            <a:endParaRPr/>
          </a:p>
        </p:txBody>
      </p:sp>
      <p:pic>
        <p:nvPicPr>
          <p:cNvPr descr="image.png" id="380" name="Google Shape;380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52489" y="3194438"/>
            <a:ext cx="20288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25"/>
          <p:cNvSpPr txBox="1"/>
          <p:nvPr/>
        </p:nvSpPr>
        <p:spPr>
          <a:xfrm>
            <a:off x="3698319" y="3718313"/>
            <a:ext cx="20289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Kibana (5601)</a:t>
            </a:r>
            <a:endParaRPr/>
          </a:p>
        </p:txBody>
      </p:sp>
      <p:pic>
        <p:nvPicPr>
          <p:cNvPr descr="image.png" id="382" name="Google Shape;382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62364" y="3194438"/>
            <a:ext cx="20288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25"/>
          <p:cNvSpPr txBox="1"/>
          <p:nvPr/>
        </p:nvSpPr>
        <p:spPr>
          <a:xfrm>
            <a:off x="6508194" y="3718313"/>
            <a:ext cx="20289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API Flask (5000)</a:t>
            </a:r>
            <a:endParaRPr/>
          </a:p>
        </p:txBody>
      </p:sp>
      <p:pic>
        <p:nvPicPr>
          <p:cNvPr descr="image.png" id="384" name="Google Shape;384;p2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372239" y="3194438"/>
            <a:ext cx="20288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25"/>
          <p:cNvSpPr txBox="1"/>
          <p:nvPr/>
        </p:nvSpPr>
        <p:spPr>
          <a:xfrm>
            <a:off x="9318069" y="3718313"/>
            <a:ext cx="20289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Nginx Front (80)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p26"/>
          <p:cNvSpPr/>
          <p:nvPr/>
        </p:nvSpPr>
        <p:spPr>
          <a:xfrm>
            <a:off x="571500" y="571500"/>
            <a:ext cx="57300" cy="5526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6"/>
          <p:cNvSpPr txBox="1"/>
          <p:nvPr/>
        </p:nvSpPr>
        <p:spPr>
          <a:xfrm>
            <a:off x="809625" y="571500"/>
            <a:ext cx="104775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Resultados consolidados</a:t>
            </a:r>
            <a:endParaRPr b="1" sz="360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93" name="Google Shape;393;p26"/>
          <p:cNvSpPr/>
          <p:nvPr/>
        </p:nvSpPr>
        <p:spPr>
          <a:xfrm>
            <a:off x="571500" y="1333500"/>
            <a:ext cx="11049000" cy="4953000"/>
          </a:xfrm>
          <a:prstGeom prst="roundRect">
            <a:avLst>
              <a:gd fmla="val 2884" name="adj"/>
            </a:avLst>
          </a:prstGeom>
          <a:solidFill>
            <a:srgbClr val="161B22"/>
          </a:solidFill>
          <a:ln cap="flat" cmpd="sng" w="9525">
            <a:solidFill>
              <a:srgbClr val="3036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26"/>
          <p:cNvSpPr/>
          <p:nvPr/>
        </p:nvSpPr>
        <p:spPr>
          <a:xfrm>
            <a:off x="571500" y="1905000"/>
            <a:ext cx="11049000" cy="192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26"/>
          <p:cNvSpPr txBox="1"/>
          <p:nvPr/>
        </p:nvSpPr>
        <p:spPr>
          <a:xfrm>
            <a:off x="809625" y="1476375"/>
            <a:ext cx="71439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rPr>
              <a:t>Métrica / KPI</a:t>
            </a:r>
            <a:endParaRPr b="1" sz="1600">
              <a:solidFill>
                <a:srgbClr val="00C853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96" name="Google Shape;396;p26"/>
          <p:cNvSpPr txBox="1"/>
          <p:nvPr/>
        </p:nvSpPr>
        <p:spPr>
          <a:xfrm>
            <a:off x="8143875" y="1476375"/>
            <a:ext cx="32385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rPr>
              <a:t>Valor Obtenido</a:t>
            </a:r>
            <a:endParaRPr b="1" sz="1600">
              <a:solidFill>
                <a:srgbClr val="00C853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grpSp>
        <p:nvGrpSpPr>
          <p:cNvPr id="397" name="Google Shape;397;p26"/>
          <p:cNvGrpSpPr/>
          <p:nvPr/>
        </p:nvGrpSpPr>
        <p:grpSpPr>
          <a:xfrm>
            <a:off x="809625" y="2000250"/>
            <a:ext cx="10572900" cy="438225"/>
            <a:chOff x="809625" y="2000250"/>
            <a:chExt cx="10572900" cy="438225"/>
          </a:xfrm>
        </p:grpSpPr>
        <p:sp>
          <p:nvSpPr>
            <p:cNvPr id="398" name="Google Shape;398;p26"/>
            <p:cNvSpPr txBox="1"/>
            <p:nvPr/>
          </p:nvSpPr>
          <p:spPr>
            <a:xfrm>
              <a:off x="809625" y="2000250"/>
              <a:ext cx="71439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Total de observaciones procesadas</a:t>
              </a:r>
              <a:endParaRPr b="0" sz="13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99" name="Google Shape;399;p26"/>
            <p:cNvSpPr txBox="1"/>
            <p:nvPr/>
          </p:nvSpPr>
          <p:spPr>
            <a:xfrm>
              <a:off x="8143875" y="2000250"/>
              <a:ext cx="3238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5F5F5"/>
                  </a:solidFill>
                  <a:latin typeface="Inter"/>
                  <a:ea typeface="Inter"/>
                  <a:cs typeface="Inter"/>
                  <a:sym typeface="Inter"/>
                </a:rPr>
                <a:t>763.435</a:t>
              </a:r>
              <a:endParaRPr b="1" sz="13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0" name="Google Shape;400;p26"/>
            <p:cNvSpPr/>
            <p:nvPr/>
          </p:nvSpPr>
          <p:spPr>
            <a:xfrm>
              <a:off x="809625" y="2428875"/>
              <a:ext cx="10572900" cy="9600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01" name="Google Shape;401;p26"/>
          <p:cNvGrpSpPr/>
          <p:nvPr/>
        </p:nvGrpSpPr>
        <p:grpSpPr>
          <a:xfrm>
            <a:off x="809625" y="2476500"/>
            <a:ext cx="10572900" cy="438225"/>
            <a:chOff x="809625" y="2476500"/>
            <a:chExt cx="10572900" cy="438225"/>
          </a:xfrm>
        </p:grpSpPr>
        <p:sp>
          <p:nvSpPr>
            <p:cNvPr id="402" name="Google Shape;402;p26"/>
            <p:cNvSpPr txBox="1"/>
            <p:nvPr/>
          </p:nvSpPr>
          <p:spPr>
            <a:xfrm>
              <a:off x="809625" y="2476500"/>
              <a:ext cx="71439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Catálogo de productos únicos</a:t>
              </a:r>
              <a:endParaRPr b="0" sz="13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3" name="Google Shape;403;p26"/>
            <p:cNvSpPr txBox="1"/>
            <p:nvPr/>
          </p:nvSpPr>
          <p:spPr>
            <a:xfrm>
              <a:off x="8143875" y="2476500"/>
              <a:ext cx="3238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5F5F5"/>
                  </a:solidFill>
                  <a:latin typeface="Inter"/>
                  <a:ea typeface="Inter"/>
                  <a:cs typeface="Inter"/>
                  <a:sym typeface="Inter"/>
                </a:rPr>
                <a:t>5.101</a:t>
              </a:r>
              <a:endParaRPr b="1" sz="13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4" name="Google Shape;404;p26"/>
            <p:cNvSpPr/>
            <p:nvPr/>
          </p:nvSpPr>
          <p:spPr>
            <a:xfrm>
              <a:off x="809625" y="2905125"/>
              <a:ext cx="10572900" cy="9600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05" name="Google Shape;405;p26"/>
          <p:cNvGrpSpPr/>
          <p:nvPr/>
        </p:nvGrpSpPr>
        <p:grpSpPr>
          <a:xfrm>
            <a:off x="809625" y="2952750"/>
            <a:ext cx="10572900" cy="438225"/>
            <a:chOff x="809625" y="2952750"/>
            <a:chExt cx="10572900" cy="438225"/>
          </a:xfrm>
        </p:grpSpPr>
        <p:sp>
          <p:nvSpPr>
            <p:cNvPr id="406" name="Google Shape;406;p26"/>
            <p:cNvSpPr txBox="1"/>
            <p:nvPr/>
          </p:nvSpPr>
          <p:spPr>
            <a:xfrm>
              <a:off x="809625" y="2952750"/>
              <a:ext cx="71439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Capacidad predictiva (AUC-ROC LSTM)</a:t>
              </a:r>
              <a:endParaRPr b="0" sz="13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7" name="Google Shape;407;p26"/>
            <p:cNvSpPr txBox="1"/>
            <p:nvPr/>
          </p:nvSpPr>
          <p:spPr>
            <a:xfrm>
              <a:off x="8143875" y="2952750"/>
              <a:ext cx="3238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5F5F5"/>
                  </a:solidFill>
                  <a:latin typeface="Inter"/>
                  <a:ea typeface="Inter"/>
                  <a:cs typeface="Inter"/>
                  <a:sym typeface="Inter"/>
                </a:rPr>
                <a:t>0,893</a:t>
              </a:r>
              <a:endParaRPr b="1" sz="13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8" name="Google Shape;408;p26"/>
            <p:cNvSpPr/>
            <p:nvPr/>
          </p:nvSpPr>
          <p:spPr>
            <a:xfrm>
              <a:off x="809625" y="3381375"/>
              <a:ext cx="10572900" cy="9600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09" name="Google Shape;409;p26"/>
          <p:cNvGrpSpPr/>
          <p:nvPr/>
        </p:nvGrpSpPr>
        <p:grpSpPr>
          <a:xfrm>
            <a:off x="809625" y="3429000"/>
            <a:ext cx="10572900" cy="438225"/>
            <a:chOff x="809625" y="3429000"/>
            <a:chExt cx="10572900" cy="438225"/>
          </a:xfrm>
        </p:grpSpPr>
        <p:sp>
          <p:nvSpPr>
            <p:cNvPr id="410" name="Google Shape;410;p26"/>
            <p:cNvSpPr txBox="1"/>
            <p:nvPr/>
          </p:nvSpPr>
          <p:spPr>
            <a:xfrm>
              <a:off x="809625" y="3429000"/>
              <a:ext cx="71439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Error predicción precios (MAPE XGBoost)</a:t>
              </a:r>
              <a:endParaRPr b="0" sz="13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1" name="Google Shape;411;p26"/>
            <p:cNvSpPr txBox="1"/>
            <p:nvPr/>
          </p:nvSpPr>
          <p:spPr>
            <a:xfrm>
              <a:off x="8143875" y="3429000"/>
              <a:ext cx="3238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5F5F5"/>
                  </a:solidFill>
                  <a:latin typeface="Inter"/>
                  <a:ea typeface="Inter"/>
                  <a:cs typeface="Inter"/>
                  <a:sym typeface="Inter"/>
                </a:rPr>
                <a:t>10,75%</a:t>
              </a:r>
              <a:endParaRPr b="1" sz="13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2" name="Google Shape;412;p26"/>
            <p:cNvSpPr/>
            <p:nvPr/>
          </p:nvSpPr>
          <p:spPr>
            <a:xfrm>
              <a:off x="809625" y="3857625"/>
              <a:ext cx="10572900" cy="9600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13" name="Google Shape;413;p26"/>
          <p:cNvGrpSpPr/>
          <p:nvPr/>
        </p:nvGrpSpPr>
        <p:grpSpPr>
          <a:xfrm>
            <a:off x="809625" y="3905250"/>
            <a:ext cx="10572900" cy="438225"/>
            <a:chOff x="809625" y="3905250"/>
            <a:chExt cx="10572900" cy="438225"/>
          </a:xfrm>
        </p:grpSpPr>
        <p:sp>
          <p:nvSpPr>
            <p:cNvPr id="414" name="Google Shape;414;p26"/>
            <p:cNvSpPr txBox="1"/>
            <p:nvPr/>
          </p:nvSpPr>
          <p:spPr>
            <a:xfrm>
              <a:off x="809625" y="3905250"/>
              <a:ext cx="71439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Similitud media NLP (MiniLM)</a:t>
              </a:r>
              <a:endParaRPr b="0" sz="13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5" name="Google Shape;415;p26"/>
            <p:cNvSpPr txBox="1"/>
            <p:nvPr/>
          </p:nvSpPr>
          <p:spPr>
            <a:xfrm>
              <a:off x="8143875" y="3905250"/>
              <a:ext cx="3238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5F5F5"/>
                  </a:solidFill>
                  <a:latin typeface="Inter"/>
                  <a:ea typeface="Inter"/>
                  <a:cs typeface="Inter"/>
                  <a:sym typeface="Inter"/>
                </a:rPr>
                <a:t>0,844</a:t>
              </a:r>
              <a:endParaRPr b="1" sz="13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6" name="Google Shape;416;p26"/>
            <p:cNvSpPr/>
            <p:nvPr/>
          </p:nvSpPr>
          <p:spPr>
            <a:xfrm>
              <a:off x="809625" y="4333875"/>
              <a:ext cx="10572900" cy="9600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17" name="Google Shape;417;p26"/>
          <p:cNvGrpSpPr/>
          <p:nvPr/>
        </p:nvGrpSpPr>
        <p:grpSpPr>
          <a:xfrm>
            <a:off x="809625" y="5334000"/>
            <a:ext cx="10572900" cy="438225"/>
            <a:chOff x="809625" y="5334000"/>
            <a:chExt cx="10572900" cy="438225"/>
          </a:xfrm>
        </p:grpSpPr>
        <p:sp>
          <p:nvSpPr>
            <p:cNvPr id="418" name="Google Shape;418;p26"/>
            <p:cNvSpPr txBox="1"/>
            <p:nvPr/>
          </p:nvSpPr>
          <p:spPr>
            <a:xfrm>
              <a:off x="809625" y="5334000"/>
              <a:ext cx="71439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Optimización Docker (Frontend)</a:t>
              </a:r>
              <a:endParaRPr b="0" sz="13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9" name="Google Shape;419;p26"/>
            <p:cNvSpPr txBox="1"/>
            <p:nvPr/>
          </p:nvSpPr>
          <p:spPr>
            <a:xfrm>
              <a:off x="8143875" y="5334000"/>
              <a:ext cx="3238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5F5F5"/>
                  </a:solidFill>
                  <a:latin typeface="Inter"/>
                  <a:ea typeface="Inter"/>
                  <a:cs typeface="Inter"/>
                  <a:sym typeface="Inter"/>
                </a:rPr>
                <a:t>1GB → 30MB</a:t>
              </a:r>
              <a:endParaRPr b="1" sz="13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20" name="Google Shape;420;p26"/>
            <p:cNvSpPr/>
            <p:nvPr/>
          </p:nvSpPr>
          <p:spPr>
            <a:xfrm>
              <a:off x="809625" y="5762625"/>
              <a:ext cx="10572900" cy="9600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21" name="Google Shape;421;p26"/>
          <p:cNvGrpSpPr/>
          <p:nvPr/>
        </p:nvGrpSpPr>
        <p:grpSpPr>
          <a:xfrm>
            <a:off x="809625" y="4381500"/>
            <a:ext cx="10572900" cy="438225"/>
            <a:chOff x="809625" y="4381500"/>
            <a:chExt cx="10572900" cy="438225"/>
          </a:xfrm>
        </p:grpSpPr>
        <p:sp>
          <p:nvSpPr>
            <p:cNvPr id="422" name="Google Shape;422;p26"/>
            <p:cNvSpPr txBox="1"/>
            <p:nvPr/>
          </p:nvSpPr>
          <p:spPr>
            <a:xfrm>
              <a:off x="809625" y="4381500"/>
              <a:ext cx="71439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Brecha marca comercial vs propia (NLP)</a:t>
              </a:r>
              <a:endParaRPr b="0" sz="13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23" name="Google Shape;423;p26"/>
            <p:cNvSpPr txBox="1"/>
            <p:nvPr/>
          </p:nvSpPr>
          <p:spPr>
            <a:xfrm>
              <a:off x="8143875" y="4381500"/>
              <a:ext cx="3238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5F5F5"/>
                  </a:solidFill>
                  <a:latin typeface="Inter"/>
                  <a:ea typeface="Inter"/>
                  <a:cs typeface="Inter"/>
                  <a:sym typeface="Inter"/>
                </a:rPr>
                <a:t>+49% mediana €/medida</a:t>
              </a:r>
              <a:endParaRPr b="1" sz="13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24" name="Google Shape;424;p26"/>
            <p:cNvSpPr/>
            <p:nvPr/>
          </p:nvSpPr>
          <p:spPr>
            <a:xfrm>
              <a:off x="809625" y="4810125"/>
              <a:ext cx="10572900" cy="9600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25" name="Google Shape;425;p26"/>
          <p:cNvGrpSpPr/>
          <p:nvPr/>
        </p:nvGrpSpPr>
        <p:grpSpPr>
          <a:xfrm>
            <a:off x="809625" y="5810250"/>
            <a:ext cx="10572750" cy="381000"/>
            <a:chOff x="809625" y="5810250"/>
            <a:chExt cx="10572750" cy="381000"/>
          </a:xfrm>
        </p:grpSpPr>
        <p:sp>
          <p:nvSpPr>
            <p:cNvPr id="426" name="Google Shape;426;p26"/>
            <p:cNvSpPr txBox="1"/>
            <p:nvPr/>
          </p:nvSpPr>
          <p:spPr>
            <a:xfrm>
              <a:off x="809625" y="5810250"/>
              <a:ext cx="71439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Speedup procesamiento (Parquet)</a:t>
              </a:r>
              <a:endParaRPr b="0" sz="13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27" name="Google Shape;427;p26"/>
            <p:cNvSpPr txBox="1"/>
            <p:nvPr/>
          </p:nvSpPr>
          <p:spPr>
            <a:xfrm>
              <a:off x="8143875" y="5810250"/>
              <a:ext cx="3238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5F5F5"/>
                  </a:solidFill>
                  <a:latin typeface="Inter"/>
                  <a:ea typeface="Inter"/>
                  <a:cs typeface="Inter"/>
                  <a:sym typeface="Inter"/>
                </a:rPr>
                <a:t>26,7x</a:t>
              </a:r>
              <a:endParaRPr b="1" sz="13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28" name="Google Shape;428;p26"/>
          <p:cNvGrpSpPr/>
          <p:nvPr/>
        </p:nvGrpSpPr>
        <p:grpSpPr>
          <a:xfrm>
            <a:off x="809625" y="4857750"/>
            <a:ext cx="10572900" cy="438225"/>
            <a:chOff x="809625" y="4857750"/>
            <a:chExt cx="10572900" cy="438225"/>
          </a:xfrm>
        </p:grpSpPr>
        <p:sp>
          <p:nvSpPr>
            <p:cNvPr id="429" name="Google Shape;429;p26"/>
            <p:cNvSpPr txBox="1"/>
            <p:nvPr/>
          </p:nvSpPr>
          <p:spPr>
            <a:xfrm>
              <a:off x="809625" y="4857750"/>
              <a:ext cx="71439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Complementariedad detectores (Jaccard)</a:t>
              </a:r>
              <a:endParaRPr b="0" sz="13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30" name="Google Shape;430;p26"/>
            <p:cNvSpPr txBox="1"/>
            <p:nvPr/>
          </p:nvSpPr>
          <p:spPr>
            <a:xfrm>
              <a:off x="8143875" y="4857750"/>
              <a:ext cx="3238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5F5F5"/>
                  </a:solidFill>
                  <a:latin typeface="Inter"/>
                  <a:ea typeface="Inter"/>
                  <a:cs typeface="Inter"/>
                  <a:sym typeface="Inter"/>
                </a:rPr>
                <a:t>≈ 0 entre los 3 métodos</a:t>
              </a:r>
              <a:endParaRPr b="1" sz="1300">
                <a:solidFill>
                  <a:srgbClr val="F5F5F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31" name="Google Shape;431;p26"/>
            <p:cNvSpPr/>
            <p:nvPr/>
          </p:nvSpPr>
          <p:spPr>
            <a:xfrm>
              <a:off x="809625" y="5286375"/>
              <a:ext cx="10572900" cy="9600"/>
            </a:xfrm>
            <a:prstGeom prst="rect">
              <a:avLst/>
            </a:prstGeom>
            <a:solidFill>
              <a:srgbClr val="3036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32" name="Google Shape;432;p26"/>
          <p:cNvSpPr txBox="1"/>
          <p:nvPr/>
        </p:nvSpPr>
        <p:spPr>
          <a:xfrm>
            <a:off x="8763000" y="628650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Daniel Porras Morales · TFE 2026</a:t>
            </a:r>
            <a:endParaRPr b="0" sz="110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37" name="Google Shape;437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8" name="Google Shape;438;p27"/>
          <p:cNvSpPr txBox="1"/>
          <p:nvPr/>
        </p:nvSpPr>
        <p:spPr>
          <a:xfrm>
            <a:off x="2065496" y="571500"/>
            <a:ext cx="8061000" cy="894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813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Merca</a:t>
            </a:r>
            <a:r>
              <a:rPr b="1" i="0" lang="en-US" sz="5813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rPr>
              <a:t>Intelligence</a:t>
            </a:r>
            <a:endParaRPr b="1" i="0" sz="5813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39" name="Google Shape;439;p27"/>
          <p:cNvSpPr txBox="1"/>
          <p:nvPr/>
        </p:nvSpPr>
        <p:spPr>
          <a:xfrm>
            <a:off x="2947988" y="1524000"/>
            <a:ext cx="6296100" cy="33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De los datos crudos a la inteligencia de precios</a:t>
            </a:r>
            <a:endParaRPr b="0" i="0" sz="2200">
              <a:solidFill>
                <a:srgbClr val="DAFFD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40" name="Google Shape;440;p27"/>
          <p:cNvGrpSpPr/>
          <p:nvPr/>
        </p:nvGrpSpPr>
        <p:grpSpPr>
          <a:xfrm>
            <a:off x="2286000" y="2286000"/>
            <a:ext cx="7620000" cy="2286000"/>
            <a:chOff x="2286000" y="2286000"/>
            <a:chExt cx="7620000" cy="2286000"/>
          </a:xfrm>
        </p:grpSpPr>
        <p:sp>
          <p:nvSpPr>
            <p:cNvPr id="441" name="Google Shape;441;p27"/>
            <p:cNvSpPr/>
            <p:nvPr/>
          </p:nvSpPr>
          <p:spPr>
            <a:xfrm>
              <a:off x="2286000" y="2286000"/>
              <a:ext cx="7620000" cy="2286000"/>
            </a:xfrm>
            <a:prstGeom prst="roundRect">
              <a:avLst>
                <a:gd fmla="val 8333" name="adj"/>
              </a:avLst>
            </a:prstGeom>
            <a:solidFill>
              <a:srgbClr val="161B22"/>
            </a:solidFill>
            <a:ln cap="flat" cmpd="sng" w="9525">
              <a:solidFill>
                <a:srgbClr val="3036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" name="Google Shape;442;p27"/>
            <p:cNvSpPr txBox="1"/>
            <p:nvPr/>
          </p:nvSpPr>
          <p:spPr>
            <a:xfrm>
              <a:off x="2286000" y="2286000"/>
              <a:ext cx="76200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6000">
                  <a:solidFill>
                    <a:srgbClr val="00C853"/>
                  </a:solidFill>
                  <a:latin typeface="Urbanist"/>
                  <a:ea typeface="Urbanist"/>
                  <a:cs typeface="Urbanist"/>
                  <a:sym typeface="Urbanist"/>
                </a:rPr>
                <a:t>¿Preguntas?</a:t>
              </a:r>
              <a:endParaRPr b="1" sz="6000">
                <a:solidFill>
                  <a:srgbClr val="00C853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ctr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DAFFDE"/>
                  </a:solidFill>
                  <a:latin typeface="Inter"/>
                  <a:ea typeface="Inter"/>
                  <a:cs typeface="Inter"/>
                  <a:sym typeface="Inter"/>
                </a:rPr>
                <a:t>Gracias por su atención</a:t>
              </a:r>
              <a:endParaRPr b="0" sz="18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443" name="Google Shape;443;p27"/>
          <p:cNvSpPr txBox="1"/>
          <p:nvPr/>
        </p:nvSpPr>
        <p:spPr>
          <a:xfrm>
            <a:off x="3557588" y="4953000"/>
            <a:ext cx="50769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Daniel Porras Morales</a:t>
            </a:r>
            <a:endParaRPr b="1" sz="180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44" name="Google Shape;444;p27"/>
          <p:cNvSpPr txBox="1"/>
          <p:nvPr/>
        </p:nvSpPr>
        <p:spPr>
          <a:xfrm>
            <a:off x="3557588" y="5286375"/>
            <a:ext cx="5076900" cy="479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DAFFDE"/>
                </a:solidFill>
                <a:latin typeface="Inter"/>
                <a:ea typeface="Inter"/>
                <a:cs typeface="Inter"/>
                <a:sym typeface="Inter"/>
              </a:rPr>
              <a:t>danielpm.dev@gmail.com</a:t>
            </a:r>
            <a:endParaRPr b="0" sz="1400">
              <a:solidFill>
                <a:srgbClr val="DAFFD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375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C853"/>
                </a:solidFill>
                <a:latin typeface="Inter"/>
                <a:ea typeface="Inter"/>
                <a:cs typeface="Inter"/>
                <a:sym typeface="Inter"/>
              </a:rPr>
              <a:t>github.com/DanielPMdev</a:t>
            </a:r>
            <a:endParaRPr b="1" sz="1400">
              <a:solidFill>
                <a:srgbClr val="00C85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5" name="Google Shape;445;p27"/>
          <p:cNvSpPr txBox="1"/>
          <p:nvPr/>
        </p:nvSpPr>
        <p:spPr>
          <a:xfrm>
            <a:off x="8763000" y="628650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Daniel Porras Morales · TFE 2026</a:t>
            </a:r>
            <a:endParaRPr b="0" sz="110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